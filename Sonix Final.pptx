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8" r:id="rId3"/>
    <p:sldId id="297" r:id="rId4"/>
    <p:sldId id="256" r:id="rId5"/>
    <p:sldId id="261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10000"/>
    <a:srgbClr val="E8F1FA"/>
    <a:srgbClr val="DFF2D2"/>
    <a:srgbClr val="F9FADC"/>
    <a:srgbClr val="F4FAD4"/>
    <a:srgbClr val="FFFFCC"/>
    <a:srgbClr val="F4EDF0"/>
    <a:srgbClr val="689DE3"/>
    <a:srgbClr val="F7C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248C56-EE4D-4729-8AE3-AAD30312554A}" v="74" dt="2026-10-06T18:56:53.610"/>
    <p1510:client id="{8EF1AA9C-486D-45B8-93F2-A42C35C9372F}" v="1" dt="2026-10-06T03:59:20.1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235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0.png"/><Relationship Id="rId21" Type="http://schemas.openxmlformats.org/officeDocument/2006/relationships/image" Target="../media/image45.png"/><Relationship Id="rId34" Type="http://schemas.openxmlformats.org/officeDocument/2006/relationships/image" Target="../media/image58.png"/><Relationship Id="rId42" Type="http://schemas.openxmlformats.org/officeDocument/2006/relationships/image" Target="../media/image66.png"/><Relationship Id="rId47" Type="http://schemas.openxmlformats.org/officeDocument/2006/relationships/image" Target="../media/image71.png"/><Relationship Id="rId50" Type="http://schemas.openxmlformats.org/officeDocument/2006/relationships/image" Target="../media/image74.png"/><Relationship Id="rId55" Type="http://schemas.openxmlformats.org/officeDocument/2006/relationships/image" Target="../media/image79.png"/><Relationship Id="rId63" Type="http://schemas.openxmlformats.org/officeDocument/2006/relationships/image" Target="../media/image8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29" Type="http://schemas.openxmlformats.org/officeDocument/2006/relationships/image" Target="../media/image53.png"/><Relationship Id="rId11" Type="http://schemas.openxmlformats.org/officeDocument/2006/relationships/image" Target="../media/image35.png"/><Relationship Id="rId24" Type="http://schemas.openxmlformats.org/officeDocument/2006/relationships/image" Target="../media/image48.png"/><Relationship Id="rId32" Type="http://schemas.openxmlformats.org/officeDocument/2006/relationships/image" Target="../media/image56.png"/><Relationship Id="rId37" Type="http://schemas.openxmlformats.org/officeDocument/2006/relationships/image" Target="../media/image61.png"/><Relationship Id="rId40" Type="http://schemas.openxmlformats.org/officeDocument/2006/relationships/image" Target="../media/image64.png"/><Relationship Id="rId45" Type="http://schemas.openxmlformats.org/officeDocument/2006/relationships/image" Target="../media/image69.png"/><Relationship Id="rId53" Type="http://schemas.openxmlformats.org/officeDocument/2006/relationships/image" Target="../media/image77.png"/><Relationship Id="rId58" Type="http://schemas.openxmlformats.org/officeDocument/2006/relationships/image" Target="../media/image82.png"/><Relationship Id="rId5" Type="http://schemas.openxmlformats.org/officeDocument/2006/relationships/image" Target="../media/image29.png"/><Relationship Id="rId61" Type="http://schemas.openxmlformats.org/officeDocument/2006/relationships/image" Target="../media/image85.png"/><Relationship Id="rId19" Type="http://schemas.openxmlformats.org/officeDocument/2006/relationships/image" Target="../media/image43.png"/><Relationship Id="rId14" Type="http://schemas.openxmlformats.org/officeDocument/2006/relationships/image" Target="../media/image38.png"/><Relationship Id="rId22" Type="http://schemas.openxmlformats.org/officeDocument/2006/relationships/image" Target="../media/image46.png"/><Relationship Id="rId27" Type="http://schemas.openxmlformats.org/officeDocument/2006/relationships/image" Target="../media/image51.png"/><Relationship Id="rId30" Type="http://schemas.openxmlformats.org/officeDocument/2006/relationships/image" Target="../media/image54.png"/><Relationship Id="rId35" Type="http://schemas.openxmlformats.org/officeDocument/2006/relationships/image" Target="../media/image59.png"/><Relationship Id="rId43" Type="http://schemas.openxmlformats.org/officeDocument/2006/relationships/image" Target="../media/image67.png"/><Relationship Id="rId48" Type="http://schemas.openxmlformats.org/officeDocument/2006/relationships/image" Target="../media/image72.png"/><Relationship Id="rId56" Type="http://schemas.openxmlformats.org/officeDocument/2006/relationships/image" Target="../media/image80.png"/><Relationship Id="rId64" Type="http://schemas.openxmlformats.org/officeDocument/2006/relationships/image" Target="../media/image88.png"/><Relationship Id="rId8" Type="http://schemas.openxmlformats.org/officeDocument/2006/relationships/image" Target="../media/image32.png"/><Relationship Id="rId51" Type="http://schemas.openxmlformats.org/officeDocument/2006/relationships/image" Target="../media/image75.png"/><Relationship Id="rId3" Type="http://schemas.openxmlformats.org/officeDocument/2006/relationships/image" Target="../media/image27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5" Type="http://schemas.openxmlformats.org/officeDocument/2006/relationships/image" Target="../media/image49.png"/><Relationship Id="rId33" Type="http://schemas.openxmlformats.org/officeDocument/2006/relationships/image" Target="../media/image57.png"/><Relationship Id="rId38" Type="http://schemas.openxmlformats.org/officeDocument/2006/relationships/image" Target="../media/image62.png"/><Relationship Id="rId46" Type="http://schemas.openxmlformats.org/officeDocument/2006/relationships/image" Target="../media/image70.png"/><Relationship Id="rId59" Type="http://schemas.openxmlformats.org/officeDocument/2006/relationships/image" Target="../media/image83.png"/><Relationship Id="rId20" Type="http://schemas.openxmlformats.org/officeDocument/2006/relationships/image" Target="../media/image44.png"/><Relationship Id="rId41" Type="http://schemas.openxmlformats.org/officeDocument/2006/relationships/image" Target="../media/image65.png"/><Relationship Id="rId54" Type="http://schemas.openxmlformats.org/officeDocument/2006/relationships/image" Target="../media/image78.png"/><Relationship Id="rId6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5" Type="http://schemas.openxmlformats.org/officeDocument/2006/relationships/image" Target="../media/image39.png"/><Relationship Id="rId23" Type="http://schemas.openxmlformats.org/officeDocument/2006/relationships/image" Target="../media/image47.png"/><Relationship Id="rId28" Type="http://schemas.openxmlformats.org/officeDocument/2006/relationships/image" Target="../media/image52.png"/><Relationship Id="rId36" Type="http://schemas.openxmlformats.org/officeDocument/2006/relationships/image" Target="../media/image60.png"/><Relationship Id="rId49" Type="http://schemas.openxmlformats.org/officeDocument/2006/relationships/image" Target="../media/image73.png"/><Relationship Id="rId57" Type="http://schemas.openxmlformats.org/officeDocument/2006/relationships/image" Target="../media/image81.png"/><Relationship Id="rId10" Type="http://schemas.openxmlformats.org/officeDocument/2006/relationships/image" Target="../media/image34.png"/><Relationship Id="rId31" Type="http://schemas.openxmlformats.org/officeDocument/2006/relationships/image" Target="../media/image55.png"/><Relationship Id="rId44" Type="http://schemas.openxmlformats.org/officeDocument/2006/relationships/image" Target="../media/image68.png"/><Relationship Id="rId52" Type="http://schemas.openxmlformats.org/officeDocument/2006/relationships/image" Target="../media/image76.png"/><Relationship Id="rId60" Type="http://schemas.openxmlformats.org/officeDocument/2006/relationships/image" Target="../media/image84.png"/><Relationship Id="rId65" Type="http://schemas.openxmlformats.org/officeDocument/2006/relationships/image" Target="../media/image8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9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espressif.co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monographs.iarc.who.int/news-events/volume-118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cnirp.org" TargetMode="External"/><Relationship Id="rId5" Type="http://schemas.openxmlformats.org/officeDocument/2006/relationships/hyperlink" Target="https://doi.org/10.1016/j.gaitpost.2007.05.004" TargetMode="External"/><Relationship Id="rId10" Type="http://schemas.openxmlformats.org/officeDocument/2006/relationships/hyperlink" Target="https://doi.org/10.3390/s100605469" TargetMode="External"/><Relationship Id="rId4" Type="http://schemas.openxmlformats.org/officeDocument/2006/relationships/hyperlink" Target="https://doi.org/10.1016/j.autcon.2017.10.015" TargetMode="External"/><Relationship Id="rId9" Type="http://schemas.openxmlformats.org/officeDocument/2006/relationships/hyperlink" Target="https://doi.org/10.1186/1475-925X-12-6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90358" y="1655922"/>
            <a:ext cx="3114412" cy="3330945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0067" y="1901097"/>
            <a:ext cx="6163733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26243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Smart Connected Safety Gear for Electrical and Welding Trades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Robotics and Drones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8077" y="578938"/>
            <a:ext cx="11615159" cy="1275133"/>
            <a:chOff x="0" y="0"/>
            <a:chExt cx="1224645" cy="1344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4645" cy="134444"/>
            </a:xfrm>
            <a:custGeom>
              <a:avLst/>
              <a:gdLst/>
              <a:ahLst/>
              <a:cxnLst/>
              <a:rect l="l" t="t" r="r" b="b"/>
              <a:pathLst>
                <a:path w="1224645" h="134444">
                  <a:moveTo>
                    <a:pt x="8679" y="0"/>
                  </a:moveTo>
                  <a:lnTo>
                    <a:pt x="1215966" y="0"/>
                  </a:lnTo>
                  <a:cubicBezTo>
                    <a:pt x="1220759" y="0"/>
                    <a:pt x="1224645" y="3886"/>
                    <a:pt x="1224645" y="8679"/>
                  </a:cubicBezTo>
                  <a:lnTo>
                    <a:pt x="1224645" y="125765"/>
                  </a:lnTo>
                  <a:cubicBezTo>
                    <a:pt x="1224645" y="130558"/>
                    <a:pt x="1220759" y="134444"/>
                    <a:pt x="1215966" y="134444"/>
                  </a:cubicBezTo>
                  <a:lnTo>
                    <a:pt x="8679" y="134444"/>
                  </a:lnTo>
                  <a:cubicBezTo>
                    <a:pt x="6377" y="134444"/>
                    <a:pt x="4170" y="133529"/>
                    <a:pt x="2542" y="131902"/>
                  </a:cubicBezTo>
                  <a:cubicBezTo>
                    <a:pt x="914" y="130274"/>
                    <a:pt x="0" y="128067"/>
                    <a:pt x="0" y="125765"/>
                  </a:cubicBezTo>
                  <a:lnTo>
                    <a:pt x="0" y="8679"/>
                  </a:lnTo>
                  <a:cubicBezTo>
                    <a:pt x="0" y="3886"/>
                    <a:pt x="3886" y="0"/>
                    <a:pt x="8679" y="0"/>
                  </a:cubicBezTo>
                  <a:close/>
                </a:path>
              </a:pathLst>
            </a:custGeom>
            <a:solidFill>
              <a:srgbClr val="C2E9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24645" cy="17254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121679" y="88378"/>
            <a:ext cx="962565" cy="495498"/>
          </a:xfrm>
          <a:custGeom>
            <a:avLst/>
            <a:gdLst/>
            <a:ahLst/>
            <a:cxnLst/>
            <a:rect l="l" t="t" r="r" b="b"/>
            <a:pathLst>
              <a:path w="1443848" h="743247">
                <a:moveTo>
                  <a:pt x="0" y="0"/>
                </a:moveTo>
                <a:lnTo>
                  <a:pt x="1443848" y="0"/>
                </a:lnTo>
                <a:lnTo>
                  <a:pt x="1443848" y="743247"/>
                </a:lnTo>
                <a:lnTo>
                  <a:pt x="0" y="7432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98077" y="1937185"/>
            <a:ext cx="6060601" cy="3416257"/>
            <a:chOff x="0" y="-245104"/>
            <a:chExt cx="12121203" cy="6832513"/>
          </a:xfrm>
        </p:grpSpPr>
        <p:grpSp>
          <p:nvGrpSpPr>
            <p:cNvPr id="7" name="Group 7"/>
            <p:cNvGrpSpPr/>
            <p:nvPr/>
          </p:nvGrpSpPr>
          <p:grpSpPr>
            <a:xfrm>
              <a:off x="205063" y="555733"/>
              <a:ext cx="4579388" cy="1771723"/>
              <a:chOff x="0" y="0"/>
              <a:chExt cx="1601573" cy="61963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601572" cy="619634"/>
              </a:xfrm>
              <a:custGeom>
                <a:avLst/>
                <a:gdLst/>
                <a:ahLst/>
                <a:cxnLst/>
                <a:rect l="l" t="t" r="r" b="b"/>
                <a:pathLst>
                  <a:path w="1601572" h="619634">
                    <a:moveTo>
                      <a:pt x="1398372" y="0"/>
                    </a:moveTo>
                    <a:cubicBezTo>
                      <a:pt x="1510597" y="0"/>
                      <a:pt x="1601572" y="138710"/>
                      <a:pt x="1601572" y="309817"/>
                    </a:cubicBezTo>
                    <a:cubicBezTo>
                      <a:pt x="1601572" y="480924"/>
                      <a:pt x="1510597" y="619634"/>
                      <a:pt x="1398372" y="619634"/>
                    </a:cubicBezTo>
                    <a:lnTo>
                      <a:pt x="203200" y="619634"/>
                    </a:lnTo>
                    <a:cubicBezTo>
                      <a:pt x="90976" y="619634"/>
                      <a:pt x="0" y="480924"/>
                      <a:pt x="0" y="309817"/>
                    </a:cubicBezTo>
                    <a:cubicBezTo>
                      <a:pt x="0" y="1387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E7C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601573" cy="65773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7209090" y="555733"/>
              <a:ext cx="4579388" cy="1771723"/>
              <a:chOff x="0" y="0"/>
              <a:chExt cx="1601573" cy="61963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601572" cy="619634"/>
              </a:xfrm>
              <a:custGeom>
                <a:avLst/>
                <a:gdLst/>
                <a:ahLst/>
                <a:cxnLst/>
                <a:rect l="l" t="t" r="r" b="b"/>
                <a:pathLst>
                  <a:path w="1601572" h="619634">
                    <a:moveTo>
                      <a:pt x="1398372" y="0"/>
                    </a:moveTo>
                    <a:cubicBezTo>
                      <a:pt x="1510597" y="0"/>
                      <a:pt x="1601572" y="138710"/>
                      <a:pt x="1601572" y="309817"/>
                    </a:cubicBezTo>
                    <a:cubicBezTo>
                      <a:pt x="1601572" y="480924"/>
                      <a:pt x="1510597" y="619634"/>
                      <a:pt x="1398372" y="619634"/>
                    </a:cubicBezTo>
                    <a:lnTo>
                      <a:pt x="203200" y="619634"/>
                    </a:lnTo>
                    <a:cubicBezTo>
                      <a:pt x="90976" y="619634"/>
                      <a:pt x="0" y="480924"/>
                      <a:pt x="0" y="309817"/>
                    </a:cubicBezTo>
                    <a:cubicBezTo>
                      <a:pt x="0" y="13871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D9F4CD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601573" cy="65773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0" y="2705244"/>
              <a:ext cx="4579388" cy="1793006"/>
              <a:chOff x="0" y="0"/>
              <a:chExt cx="1601573" cy="62707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601572" cy="627077"/>
              </a:xfrm>
              <a:custGeom>
                <a:avLst/>
                <a:gdLst/>
                <a:ahLst/>
                <a:cxnLst/>
                <a:rect l="l" t="t" r="r" b="b"/>
                <a:pathLst>
                  <a:path w="1601572" h="627077">
                    <a:moveTo>
                      <a:pt x="1398372" y="0"/>
                    </a:moveTo>
                    <a:cubicBezTo>
                      <a:pt x="1510597" y="0"/>
                      <a:pt x="1601572" y="140376"/>
                      <a:pt x="1601572" y="313539"/>
                    </a:cubicBezTo>
                    <a:cubicBezTo>
                      <a:pt x="1601572" y="486701"/>
                      <a:pt x="1510597" y="627077"/>
                      <a:pt x="1398372" y="627077"/>
                    </a:cubicBezTo>
                    <a:lnTo>
                      <a:pt x="203200" y="627077"/>
                    </a:lnTo>
                    <a:cubicBezTo>
                      <a:pt x="90976" y="627077"/>
                      <a:pt x="0" y="486701"/>
                      <a:pt x="0" y="313539"/>
                    </a:cubicBezTo>
                    <a:cubicBezTo>
                      <a:pt x="0" y="1403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2E9F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1601573" cy="66517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7541815" y="2705244"/>
              <a:ext cx="4579388" cy="1793006"/>
              <a:chOff x="0" y="0"/>
              <a:chExt cx="1601573" cy="62707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601572" cy="627077"/>
              </a:xfrm>
              <a:custGeom>
                <a:avLst/>
                <a:gdLst/>
                <a:ahLst/>
                <a:cxnLst/>
                <a:rect l="l" t="t" r="r" b="b"/>
                <a:pathLst>
                  <a:path w="1601572" h="627077">
                    <a:moveTo>
                      <a:pt x="1398372" y="0"/>
                    </a:moveTo>
                    <a:cubicBezTo>
                      <a:pt x="1510597" y="0"/>
                      <a:pt x="1601572" y="140376"/>
                      <a:pt x="1601572" y="313539"/>
                    </a:cubicBezTo>
                    <a:cubicBezTo>
                      <a:pt x="1601572" y="486701"/>
                      <a:pt x="1510597" y="627077"/>
                      <a:pt x="1398372" y="627077"/>
                    </a:cubicBezTo>
                    <a:lnTo>
                      <a:pt x="203200" y="627077"/>
                    </a:lnTo>
                    <a:cubicBezTo>
                      <a:pt x="90976" y="627077"/>
                      <a:pt x="0" y="486701"/>
                      <a:pt x="0" y="313539"/>
                    </a:cubicBezTo>
                    <a:cubicBezTo>
                      <a:pt x="0" y="1403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D6D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601573" cy="66517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78520" y="4877094"/>
              <a:ext cx="4579388" cy="1710315"/>
              <a:chOff x="0" y="0"/>
              <a:chExt cx="1601573" cy="598157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601572" cy="598157"/>
              </a:xfrm>
              <a:custGeom>
                <a:avLst/>
                <a:gdLst/>
                <a:ahLst/>
                <a:cxnLst/>
                <a:rect l="l" t="t" r="r" b="b"/>
                <a:pathLst>
                  <a:path w="1601572" h="598157">
                    <a:moveTo>
                      <a:pt x="1398372" y="0"/>
                    </a:moveTo>
                    <a:cubicBezTo>
                      <a:pt x="1510597" y="0"/>
                      <a:pt x="1601572" y="133902"/>
                      <a:pt x="1601572" y="299079"/>
                    </a:cubicBezTo>
                    <a:cubicBezTo>
                      <a:pt x="1601572" y="464255"/>
                      <a:pt x="1510597" y="598157"/>
                      <a:pt x="1398372" y="598157"/>
                    </a:cubicBezTo>
                    <a:lnTo>
                      <a:pt x="203200" y="598157"/>
                    </a:lnTo>
                    <a:cubicBezTo>
                      <a:pt x="90976" y="598157"/>
                      <a:pt x="0" y="464255"/>
                      <a:pt x="0" y="299079"/>
                    </a:cubicBezTo>
                    <a:cubicBezTo>
                      <a:pt x="0" y="133902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2FFE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601573" cy="636257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461867" y="4868691"/>
              <a:ext cx="4579388" cy="1718718"/>
              <a:chOff x="0" y="0"/>
              <a:chExt cx="1601573" cy="60109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601572" cy="601096"/>
              </a:xfrm>
              <a:custGeom>
                <a:avLst/>
                <a:gdLst/>
                <a:ahLst/>
                <a:cxnLst/>
                <a:rect l="l" t="t" r="r" b="b"/>
                <a:pathLst>
                  <a:path w="1601572" h="601096">
                    <a:moveTo>
                      <a:pt x="1398372" y="0"/>
                    </a:moveTo>
                    <a:cubicBezTo>
                      <a:pt x="1510597" y="0"/>
                      <a:pt x="1601572" y="134560"/>
                      <a:pt x="1601572" y="300548"/>
                    </a:cubicBezTo>
                    <a:cubicBezTo>
                      <a:pt x="1601572" y="466536"/>
                      <a:pt x="1510597" y="601096"/>
                      <a:pt x="1398372" y="601096"/>
                    </a:cubicBezTo>
                    <a:lnTo>
                      <a:pt x="203200" y="601096"/>
                    </a:lnTo>
                    <a:cubicBezTo>
                      <a:pt x="90976" y="601096"/>
                      <a:pt x="0" y="466536"/>
                      <a:pt x="0" y="300548"/>
                    </a:cubicBezTo>
                    <a:cubicBezTo>
                      <a:pt x="0" y="13456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C2C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601573" cy="63919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204620" y="2873984"/>
              <a:ext cx="1707105" cy="1624267"/>
              <a:chOff x="0" y="0"/>
              <a:chExt cx="812800" cy="773359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773359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73359">
                    <a:moveTo>
                      <a:pt x="406400" y="0"/>
                    </a:moveTo>
                    <a:cubicBezTo>
                      <a:pt x="181951" y="0"/>
                      <a:pt x="0" y="173122"/>
                      <a:pt x="0" y="386679"/>
                    </a:cubicBezTo>
                    <a:cubicBezTo>
                      <a:pt x="0" y="600236"/>
                      <a:pt x="181951" y="773359"/>
                      <a:pt x="406400" y="773359"/>
                    </a:cubicBezTo>
                    <a:cubicBezTo>
                      <a:pt x="630849" y="773359"/>
                      <a:pt x="812800" y="600236"/>
                      <a:pt x="812800" y="386679"/>
                    </a:cubicBezTo>
                    <a:cubicBezTo>
                      <a:pt x="812800" y="173122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CF0F3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200" y="34402"/>
                <a:ext cx="660400" cy="66645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458313" y="3134429"/>
              <a:ext cx="1103377" cy="1103377"/>
              <a:chOff x="0" y="0"/>
              <a:chExt cx="812800" cy="8128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 rot="5400000">
              <a:off x="4692620" y="1357032"/>
              <a:ext cx="494751" cy="432907"/>
              <a:chOff x="0" y="0"/>
              <a:chExt cx="812800" cy="7112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E7C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-5321282">
              <a:off x="6886410" y="1225141"/>
              <a:ext cx="494751" cy="432907"/>
              <a:chOff x="0" y="0"/>
              <a:chExt cx="812800" cy="711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D9F4CD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 rot="-5400000">
              <a:off x="7214492" y="3462193"/>
              <a:ext cx="494751" cy="432907"/>
              <a:chOff x="0" y="0"/>
              <a:chExt cx="812800" cy="711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6D6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 rot="-5321282">
              <a:off x="7072378" y="5437771"/>
              <a:ext cx="494751" cy="432907"/>
              <a:chOff x="0" y="0"/>
              <a:chExt cx="812800" cy="7112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C2C2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 rot="5400000">
              <a:off x="4551161" y="5534193"/>
              <a:ext cx="494751" cy="432907"/>
              <a:chOff x="0" y="0"/>
              <a:chExt cx="812800" cy="7112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C2FFE1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 rot="5400000">
              <a:off x="4407101" y="3457635"/>
              <a:ext cx="494751" cy="432907"/>
              <a:chOff x="0" y="0"/>
              <a:chExt cx="812800" cy="7112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711200">
                    <a:moveTo>
                      <a:pt x="406400" y="0"/>
                    </a:moveTo>
                    <a:lnTo>
                      <a:pt x="812800" y="711200"/>
                    </a:lnTo>
                    <a:lnTo>
                      <a:pt x="0" y="7112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C2E9F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27000" y="292100"/>
                <a:ext cx="558800" cy="3683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493"/>
                  </a:lnSpc>
                </a:pPr>
                <a:endParaRPr/>
              </a:p>
            </p:txBody>
          </p:sp>
        </p:grpSp>
        <p:sp>
          <p:nvSpPr>
            <p:cNvPr id="49" name="AutoShape 49"/>
            <p:cNvSpPr/>
            <p:nvPr/>
          </p:nvSpPr>
          <p:spPr>
            <a:xfrm flipV="1">
              <a:off x="6429451" y="1436639"/>
              <a:ext cx="487937" cy="1517994"/>
            </a:xfrm>
            <a:prstGeom prst="line">
              <a:avLst/>
            </a:prstGeom>
            <a:ln w="27060" cap="flat">
              <a:solidFill>
                <a:srgbClr val="8E93A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AutoShape 50"/>
            <p:cNvSpPr/>
            <p:nvPr/>
          </p:nvSpPr>
          <p:spPr>
            <a:xfrm flipV="1">
              <a:off x="6911725" y="3678647"/>
              <a:ext cx="333689" cy="7470"/>
            </a:xfrm>
            <a:prstGeom prst="line">
              <a:avLst/>
            </a:prstGeom>
            <a:ln w="27060" cap="flat">
              <a:solidFill>
                <a:srgbClr val="8E93A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AutoShape 51"/>
            <p:cNvSpPr/>
            <p:nvPr/>
          </p:nvSpPr>
          <p:spPr>
            <a:xfrm>
              <a:off x="4862954" y="3678647"/>
              <a:ext cx="341666" cy="7470"/>
            </a:xfrm>
            <a:prstGeom prst="line">
              <a:avLst/>
            </a:prstGeom>
            <a:ln w="27060" cap="flat">
              <a:solidFill>
                <a:srgbClr val="8E93A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AutoShape 52"/>
            <p:cNvSpPr/>
            <p:nvPr/>
          </p:nvSpPr>
          <p:spPr>
            <a:xfrm flipH="1" flipV="1">
              <a:off x="6425962" y="4419198"/>
              <a:ext cx="677396" cy="1230070"/>
            </a:xfrm>
            <a:prstGeom prst="line">
              <a:avLst/>
            </a:prstGeom>
            <a:ln w="27060" cap="flat">
              <a:solidFill>
                <a:srgbClr val="8E93A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AutoShape 53"/>
            <p:cNvSpPr/>
            <p:nvPr/>
          </p:nvSpPr>
          <p:spPr>
            <a:xfrm flipH="1" flipV="1">
              <a:off x="5156449" y="1573486"/>
              <a:ext cx="534564" cy="1379264"/>
            </a:xfrm>
            <a:prstGeom prst="line">
              <a:avLst/>
            </a:prstGeom>
            <a:ln w="27060" cap="flat">
              <a:solidFill>
                <a:srgbClr val="8E93A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AutoShape 54"/>
            <p:cNvSpPr/>
            <p:nvPr/>
          </p:nvSpPr>
          <p:spPr>
            <a:xfrm flipV="1">
              <a:off x="5014990" y="4419433"/>
              <a:ext cx="675908" cy="1331214"/>
            </a:xfrm>
            <a:prstGeom prst="line">
              <a:avLst/>
            </a:prstGeom>
            <a:ln w="27060" cap="flat">
              <a:solidFill>
                <a:srgbClr val="8E93A9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5727159" y="3426713"/>
              <a:ext cx="565685" cy="575030"/>
            </a:xfrm>
            <a:custGeom>
              <a:avLst/>
              <a:gdLst/>
              <a:ahLst/>
              <a:cxnLst/>
              <a:rect l="l" t="t" r="r" b="b"/>
              <a:pathLst>
                <a:path w="565685" h="575030">
                  <a:moveTo>
                    <a:pt x="0" y="0"/>
                  </a:moveTo>
                  <a:lnTo>
                    <a:pt x="565685" y="0"/>
                  </a:lnTo>
                  <a:lnTo>
                    <a:pt x="565685" y="575029"/>
                  </a:lnTo>
                  <a:lnTo>
                    <a:pt x="0" y="575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2513658" y="-245104"/>
              <a:ext cx="7089535" cy="66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03"/>
                </a:lnSpc>
              </a:pPr>
              <a:r>
                <a:rPr lang="en-US" sz="2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2361" y="1911220"/>
            <a:ext cx="6312035" cy="3517930"/>
            <a:chOff x="0" y="0"/>
            <a:chExt cx="2493643" cy="138979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493644" cy="1389799"/>
            </a:xfrm>
            <a:custGeom>
              <a:avLst/>
              <a:gdLst/>
              <a:ahLst/>
              <a:cxnLst/>
              <a:rect l="l" t="t" r="r" b="b"/>
              <a:pathLst>
                <a:path w="2493644" h="1389799">
                  <a:moveTo>
                    <a:pt x="0" y="0"/>
                  </a:moveTo>
                  <a:lnTo>
                    <a:pt x="2493644" y="0"/>
                  </a:lnTo>
                  <a:lnTo>
                    <a:pt x="2493644" y="1389799"/>
                  </a:lnTo>
                  <a:lnTo>
                    <a:pt x="0" y="1389799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dash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2493643" cy="142789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493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2360" y="5704560"/>
            <a:ext cx="11916583" cy="1153441"/>
            <a:chOff x="0" y="0"/>
            <a:chExt cx="4707786" cy="45568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707786" cy="455680"/>
            </a:xfrm>
            <a:custGeom>
              <a:avLst/>
              <a:gdLst/>
              <a:ahLst/>
              <a:cxnLst/>
              <a:rect l="l" t="t" r="r" b="b"/>
              <a:pathLst>
                <a:path w="4707786" h="455680">
                  <a:moveTo>
                    <a:pt x="22089" y="0"/>
                  </a:moveTo>
                  <a:lnTo>
                    <a:pt x="4685697" y="0"/>
                  </a:lnTo>
                  <a:cubicBezTo>
                    <a:pt x="4697896" y="0"/>
                    <a:pt x="4707786" y="9890"/>
                    <a:pt x="4707786" y="22089"/>
                  </a:cubicBezTo>
                  <a:lnTo>
                    <a:pt x="4707786" y="433591"/>
                  </a:lnTo>
                  <a:cubicBezTo>
                    <a:pt x="4707786" y="445791"/>
                    <a:pt x="4697896" y="455680"/>
                    <a:pt x="4685697" y="455680"/>
                  </a:cubicBezTo>
                  <a:lnTo>
                    <a:pt x="22089" y="455680"/>
                  </a:lnTo>
                  <a:cubicBezTo>
                    <a:pt x="9890" y="455680"/>
                    <a:pt x="0" y="445791"/>
                    <a:pt x="0" y="433591"/>
                  </a:cubicBezTo>
                  <a:lnTo>
                    <a:pt x="0" y="22089"/>
                  </a:lnTo>
                  <a:cubicBezTo>
                    <a:pt x="0" y="9890"/>
                    <a:pt x="9890" y="0"/>
                    <a:pt x="22089" y="0"/>
                  </a:cubicBezTo>
                  <a:close/>
                </a:path>
              </a:pathLst>
            </a:custGeom>
            <a:solidFill>
              <a:srgbClr val="FFECCF">
                <a:alpha val="46667"/>
              </a:srgbClr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4707786" cy="4937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>
                <a:latin typeface="Times New Roman 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127291" y="5492650"/>
            <a:ext cx="3330448" cy="423818"/>
            <a:chOff x="0" y="0"/>
            <a:chExt cx="1315733" cy="16743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315733" cy="167434"/>
            </a:xfrm>
            <a:custGeom>
              <a:avLst/>
              <a:gdLst/>
              <a:ahLst/>
              <a:cxnLst/>
              <a:rect l="l" t="t" r="r" b="b"/>
              <a:pathLst>
                <a:path w="1315733" h="167434">
                  <a:moveTo>
                    <a:pt x="79036" y="0"/>
                  </a:moveTo>
                  <a:lnTo>
                    <a:pt x="1236697" y="0"/>
                  </a:lnTo>
                  <a:cubicBezTo>
                    <a:pt x="1257658" y="0"/>
                    <a:pt x="1277761" y="8327"/>
                    <a:pt x="1292584" y="23149"/>
                  </a:cubicBezTo>
                  <a:cubicBezTo>
                    <a:pt x="1307406" y="37971"/>
                    <a:pt x="1315733" y="58074"/>
                    <a:pt x="1315733" y="79036"/>
                  </a:cubicBezTo>
                  <a:lnTo>
                    <a:pt x="1315733" y="88398"/>
                  </a:lnTo>
                  <a:cubicBezTo>
                    <a:pt x="1315733" y="109360"/>
                    <a:pt x="1307406" y="129463"/>
                    <a:pt x="1292584" y="144285"/>
                  </a:cubicBezTo>
                  <a:cubicBezTo>
                    <a:pt x="1277761" y="159107"/>
                    <a:pt x="1257658" y="167434"/>
                    <a:pt x="1236697" y="167434"/>
                  </a:cubicBezTo>
                  <a:lnTo>
                    <a:pt x="79036" y="167434"/>
                  </a:lnTo>
                  <a:cubicBezTo>
                    <a:pt x="58074" y="167434"/>
                    <a:pt x="37971" y="159107"/>
                    <a:pt x="23149" y="144285"/>
                  </a:cubicBezTo>
                  <a:cubicBezTo>
                    <a:pt x="8327" y="129463"/>
                    <a:pt x="0" y="109360"/>
                    <a:pt x="0" y="88398"/>
                  </a:cubicBezTo>
                  <a:lnTo>
                    <a:pt x="0" y="79036"/>
                  </a:lnTo>
                  <a:cubicBezTo>
                    <a:pt x="0" y="58074"/>
                    <a:pt x="8327" y="37971"/>
                    <a:pt x="23149" y="23149"/>
                  </a:cubicBezTo>
                  <a:cubicBezTo>
                    <a:pt x="37971" y="8327"/>
                    <a:pt x="58074" y="0"/>
                    <a:pt x="79036" y="0"/>
                  </a:cubicBezTo>
                  <a:close/>
                </a:path>
              </a:pathLst>
            </a:custGeom>
            <a:solidFill>
              <a:srgbClr val="FFD69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1315733" cy="20553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>
                <a:latin typeface="Times New Roman "/>
              </a:endParaRPr>
            </a:p>
          </p:txBody>
        </p:sp>
      </p:grpSp>
      <p:sp>
        <p:nvSpPr>
          <p:cNvPr id="66" name="AutoShape 66"/>
          <p:cNvSpPr/>
          <p:nvPr/>
        </p:nvSpPr>
        <p:spPr>
          <a:xfrm>
            <a:off x="2115025" y="5860898"/>
            <a:ext cx="0" cy="835553"/>
          </a:xfrm>
          <a:prstGeom prst="line">
            <a:avLst/>
          </a:prstGeom>
          <a:ln w="38100" cap="flat">
            <a:solidFill>
              <a:srgbClr val="8E93A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Box 70"/>
          <p:cNvSpPr txBox="1"/>
          <p:nvPr/>
        </p:nvSpPr>
        <p:spPr>
          <a:xfrm>
            <a:off x="272183" y="553023"/>
            <a:ext cx="11369484" cy="1261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26"/>
              </a:lnSpc>
            </a:pPr>
            <a:endParaRPr dirty="0"/>
          </a:p>
          <a:p>
            <a:pPr algn="ctr">
              <a:lnSpc>
                <a:spcPts val="2026"/>
              </a:lnSpc>
            </a:pPr>
            <a:r>
              <a:rPr lang="en-US" sz="144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Electrical maintenance and welding are high-risk trades where workers face hazards such as electrical shocks, burns, arc exposure, gas exposure, and falls. Existing safety gear is passive and cannot provide early warnings or real-time monitoring of unsafe conditions. There is a need for a low-cost smart safety solution that can detect hazards, verify PPE usage, and instantly alert workers and supervisors. The system should also record incidents and near-misses to improve workplace safety and training effectiveness.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72183" y="539425"/>
            <a:ext cx="1938020" cy="29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</a:pPr>
            <a:r>
              <a:rPr lang="en-US" sz="1799" b="1">
                <a:solidFill>
                  <a:srgbClr val="004A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  <a:r>
              <a:rPr lang="en-US" sz="1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738168" y="102234"/>
            <a:ext cx="8198455" cy="3874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Connected Safety Gear for Electrical and Welding Trades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851702" y="2461262"/>
            <a:ext cx="2244298" cy="80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5"/>
              </a:lnSpc>
            </a:pPr>
            <a:r>
              <a:rPr lang="en-US" sz="1132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Transmit real-time safety alerts to a supervisor dashboard using wireless communication (LoRa/Wi-Fi).</a:t>
            </a:r>
          </a:p>
          <a:p>
            <a:pPr algn="ctr">
              <a:lnSpc>
                <a:spcPts val="1585"/>
              </a:lnSpc>
            </a:pPr>
            <a:endParaRPr lang="en-US" sz="1132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4164725" y="3485938"/>
            <a:ext cx="1931275" cy="100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3"/>
              </a:lnSpc>
            </a:pPr>
            <a:r>
              <a:rPr lang="en-US" sz="11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log incidents and near-miss events with timestamps for safety analysis and training improvement.</a:t>
            </a:r>
          </a:p>
          <a:p>
            <a:pPr algn="ctr">
              <a:lnSpc>
                <a:spcPts val="1583"/>
              </a:lnSpc>
            </a:pPr>
            <a:endParaRPr lang="en-US" sz="11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255125" y="3485938"/>
            <a:ext cx="2132946" cy="989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2"/>
              </a:lnSpc>
            </a:pPr>
            <a:r>
              <a:rPr lang="en-US" sz="11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the solution to be low-cost, lightweight, and compatible with existing safety equipment without restricting worker movement.</a:t>
            </a:r>
          </a:p>
          <a:p>
            <a:pPr algn="ctr">
              <a:lnSpc>
                <a:spcPts val="1395"/>
              </a:lnSpc>
            </a:pPr>
            <a:endParaRPr lang="en-US" sz="11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294499" y="2400855"/>
            <a:ext cx="2219496" cy="110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sz="11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instant alerts to workers through buzzers and LED indicators when hazardous conditions are detected.</a:t>
            </a:r>
          </a:p>
          <a:p>
            <a:pPr algn="ctr">
              <a:lnSpc>
                <a:spcPts val="2638"/>
              </a:lnSpc>
            </a:pPr>
            <a:endParaRPr lang="en-US" sz="113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4039381" y="4524488"/>
            <a:ext cx="2181964" cy="1008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7"/>
              </a:lnSpc>
            </a:pPr>
            <a:r>
              <a:rPr lang="en-US" sz="114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sensors to detect live-circuit proximity, excessive heat, harmful gas exposure, abnormal body temperature, and worker falls.</a:t>
            </a:r>
          </a:p>
          <a:p>
            <a:pPr algn="ctr">
              <a:lnSpc>
                <a:spcPts val="1597"/>
              </a:lnSpc>
            </a:pPr>
            <a:endParaRPr lang="en-US" sz="114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379099" y="4532760"/>
            <a:ext cx="2050297" cy="110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9"/>
              </a:lnSpc>
            </a:pPr>
            <a:r>
              <a:rPr lang="en-US" sz="1128">
                <a:solidFill>
                  <a:srgbClr val="0035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smart connected safety gear system integrated into standard PPE such as helmets and safety vests</a:t>
            </a:r>
          </a:p>
          <a:p>
            <a:pPr algn="ctr">
              <a:lnSpc>
                <a:spcPts val="2630"/>
              </a:lnSpc>
            </a:pPr>
            <a:endParaRPr lang="en-US" sz="1128">
              <a:solidFill>
                <a:srgbClr val="00357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4091024" y="5469132"/>
            <a:ext cx="3431418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sz="2069" b="1" dirty="0">
                <a:solidFill>
                  <a:srgbClr val="000000"/>
                </a:solidFill>
                <a:latin typeface="Times New Roman "/>
                <a:ea typeface="Times New Roman Bold"/>
                <a:cs typeface="Times New Roman Bold"/>
                <a:sym typeface="Times New Roman Bold"/>
              </a:rPr>
              <a:t>Uniqueness and Innovation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31110" y="121362"/>
            <a:ext cx="1029467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44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SoniX</a:t>
            </a:r>
          </a:p>
        </p:txBody>
      </p:sp>
      <p:sp>
        <p:nvSpPr>
          <p:cNvPr id="81" name="AutoShape 81"/>
          <p:cNvSpPr/>
          <p:nvPr/>
        </p:nvSpPr>
        <p:spPr>
          <a:xfrm flipV="1">
            <a:off x="3963944" y="5860898"/>
            <a:ext cx="0" cy="835553"/>
          </a:xfrm>
          <a:prstGeom prst="line">
            <a:avLst/>
          </a:prstGeom>
          <a:ln w="38100" cap="flat">
            <a:solidFill>
              <a:srgbClr val="8E93A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2" name="AutoShape 82"/>
          <p:cNvSpPr/>
          <p:nvPr/>
        </p:nvSpPr>
        <p:spPr>
          <a:xfrm flipV="1">
            <a:off x="7883038" y="5860898"/>
            <a:ext cx="0" cy="835553"/>
          </a:xfrm>
          <a:prstGeom prst="line">
            <a:avLst/>
          </a:prstGeom>
          <a:ln w="38100" cap="flat">
            <a:solidFill>
              <a:srgbClr val="8E93A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3" name="AutoShape 83"/>
          <p:cNvSpPr/>
          <p:nvPr/>
        </p:nvSpPr>
        <p:spPr>
          <a:xfrm flipH="1" flipV="1">
            <a:off x="10082811" y="5880553"/>
            <a:ext cx="0" cy="801454"/>
          </a:xfrm>
          <a:prstGeom prst="line">
            <a:avLst/>
          </a:prstGeom>
          <a:ln w="38100" cap="flat">
            <a:solidFill>
              <a:srgbClr val="8E93A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4" name="AutoShape 84"/>
          <p:cNvSpPr/>
          <p:nvPr/>
        </p:nvSpPr>
        <p:spPr>
          <a:xfrm>
            <a:off x="5880434" y="5894996"/>
            <a:ext cx="0" cy="801454"/>
          </a:xfrm>
          <a:prstGeom prst="line">
            <a:avLst/>
          </a:prstGeom>
          <a:ln w="38100" cap="flat">
            <a:solidFill>
              <a:srgbClr val="8E93A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DF0F763-0D88-109F-F980-F1BC5080B272}"/>
              </a:ext>
            </a:extLst>
          </p:cNvPr>
          <p:cNvSpPr txBox="1"/>
          <p:nvPr/>
        </p:nvSpPr>
        <p:spPr>
          <a:xfrm>
            <a:off x="257751" y="6180892"/>
            <a:ext cx="175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 "/>
              </a:rPr>
              <a:t>Training intelligence 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 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98F80C7-4330-1222-72AE-1B8827A7AF83}"/>
              </a:ext>
            </a:extLst>
          </p:cNvPr>
          <p:cNvSpPr txBox="1"/>
          <p:nvPr/>
        </p:nvSpPr>
        <p:spPr>
          <a:xfrm>
            <a:off x="2319354" y="6211361"/>
            <a:ext cx="1515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 "/>
              </a:rPr>
              <a:t>Retro fit Smart PPE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 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B2437E8-1F04-7BF3-AA0B-F3F70C03D6D2}"/>
              </a:ext>
            </a:extLst>
          </p:cNvPr>
          <p:cNvSpPr txBox="1"/>
          <p:nvPr/>
        </p:nvSpPr>
        <p:spPr>
          <a:xfrm>
            <a:off x="3978893" y="6211670"/>
            <a:ext cx="21134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 "/>
              </a:rPr>
              <a:t>Multi-hazard Monitoring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 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6325BE3-8712-899B-EAFF-8E0C4D658CBA}"/>
              </a:ext>
            </a:extLst>
          </p:cNvPr>
          <p:cNvSpPr txBox="1"/>
          <p:nvPr/>
        </p:nvSpPr>
        <p:spPr>
          <a:xfrm>
            <a:off x="5916884" y="6224876"/>
            <a:ext cx="1978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 "/>
              </a:rPr>
              <a:t>Offline First Operation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 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55BF43A-A582-EBE7-F924-1F8920D0A3CF}"/>
              </a:ext>
            </a:extLst>
          </p:cNvPr>
          <p:cNvSpPr txBox="1"/>
          <p:nvPr/>
        </p:nvSpPr>
        <p:spPr>
          <a:xfrm>
            <a:off x="8116007" y="6134522"/>
            <a:ext cx="1921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 "/>
              </a:rPr>
              <a:t>Real time supervision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 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430AAC2-3D92-EF97-C70F-D28F7D38D96D}"/>
              </a:ext>
            </a:extLst>
          </p:cNvPr>
          <p:cNvSpPr txBox="1"/>
          <p:nvPr/>
        </p:nvSpPr>
        <p:spPr>
          <a:xfrm>
            <a:off x="10250000" y="6142042"/>
            <a:ext cx="1820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Times New Roman "/>
              </a:rPr>
              <a:t>Event driven intelligence</a:t>
            </a:r>
            <a:endParaRPr lang="en-IN" b="1" dirty="0">
              <a:solidFill>
                <a:schemeClr val="tx2">
                  <a:lumMod val="75000"/>
                </a:schemeClr>
              </a:solidFill>
              <a:latin typeface="Times New Roman "/>
            </a:endParaRPr>
          </a:p>
        </p:txBody>
      </p:sp>
      <p:pic>
        <p:nvPicPr>
          <p:cNvPr id="101" name="Graphic 100" descr="Brain in head with solid fill">
            <a:extLst>
              <a:ext uri="{FF2B5EF4-FFF2-40B4-BE49-F238E27FC236}">
                <a16:creationId xmlns:a16="http://schemas.microsoft.com/office/drawing/2014/main" id="{7D3EB4BA-501F-E1EA-927F-C89DCDE4ED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2955" y="5742276"/>
            <a:ext cx="482600" cy="482600"/>
          </a:xfrm>
          <a:prstGeom prst="rect">
            <a:avLst/>
          </a:prstGeom>
        </p:spPr>
      </p:pic>
      <p:pic>
        <p:nvPicPr>
          <p:cNvPr id="103" name="Graphic 102" descr="Single gear with solid fill">
            <a:extLst>
              <a:ext uri="{FF2B5EF4-FFF2-40B4-BE49-F238E27FC236}">
                <a16:creationId xmlns:a16="http://schemas.microsoft.com/office/drawing/2014/main" id="{2CB99D2A-8F9E-342F-D0C8-D5841C6552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42837" y="5747072"/>
            <a:ext cx="515896" cy="515896"/>
          </a:xfrm>
          <a:prstGeom prst="rect">
            <a:avLst/>
          </a:prstGeom>
        </p:spPr>
      </p:pic>
      <p:pic>
        <p:nvPicPr>
          <p:cNvPr id="105" name="Graphic 104" descr="Warning with solid fill">
            <a:extLst>
              <a:ext uri="{FF2B5EF4-FFF2-40B4-BE49-F238E27FC236}">
                <a16:creationId xmlns:a16="http://schemas.microsoft.com/office/drawing/2014/main" id="{B78C4E71-BD92-BE43-5D52-CFC0B5364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09883" y="5945213"/>
            <a:ext cx="320479" cy="320479"/>
          </a:xfrm>
          <a:prstGeom prst="rect">
            <a:avLst/>
          </a:prstGeom>
        </p:spPr>
      </p:pic>
      <p:pic>
        <p:nvPicPr>
          <p:cNvPr id="107" name="Graphic 106" descr="Cloud Computing with solid fill">
            <a:extLst>
              <a:ext uri="{FF2B5EF4-FFF2-40B4-BE49-F238E27FC236}">
                <a16:creationId xmlns:a16="http://schemas.microsoft.com/office/drawing/2014/main" id="{B1C70EF8-FACB-767F-B47D-76449D7335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85519" y="5884951"/>
            <a:ext cx="457047" cy="457047"/>
          </a:xfrm>
          <a:prstGeom prst="rect">
            <a:avLst/>
          </a:prstGeom>
        </p:spPr>
      </p:pic>
      <p:pic>
        <p:nvPicPr>
          <p:cNvPr id="109" name="Graphic 108" descr="Arrow circle with solid fill">
            <a:extLst>
              <a:ext uri="{FF2B5EF4-FFF2-40B4-BE49-F238E27FC236}">
                <a16:creationId xmlns:a16="http://schemas.microsoft.com/office/drawing/2014/main" id="{10074343-E889-E765-FB83-26604AA30A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32425" y="5674338"/>
            <a:ext cx="578507" cy="578507"/>
          </a:xfrm>
          <a:prstGeom prst="rect">
            <a:avLst/>
          </a:prstGeom>
        </p:spPr>
      </p:pic>
      <p:pic>
        <p:nvPicPr>
          <p:cNvPr id="111" name="Graphic 110" descr="Person with idea with solid fill">
            <a:extLst>
              <a:ext uri="{FF2B5EF4-FFF2-40B4-BE49-F238E27FC236}">
                <a16:creationId xmlns:a16="http://schemas.microsoft.com/office/drawing/2014/main" id="{FCBCAEB0-789A-052B-8C95-C9388CF065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28054" y="5723319"/>
            <a:ext cx="509741" cy="509741"/>
          </a:xfrm>
          <a:prstGeom prst="rect">
            <a:avLst/>
          </a:prstGeom>
        </p:spPr>
      </p:pic>
      <p:sp>
        <p:nvSpPr>
          <p:cNvPr id="85" name="Oval 84">
            <a:extLst>
              <a:ext uri="{FF2B5EF4-FFF2-40B4-BE49-F238E27FC236}">
                <a16:creationId xmlns:a16="http://schemas.microsoft.com/office/drawing/2014/main" id="{5398446E-7244-7557-BD84-AAFC8C5971A2}"/>
              </a:ext>
            </a:extLst>
          </p:cNvPr>
          <p:cNvSpPr/>
          <p:nvPr/>
        </p:nvSpPr>
        <p:spPr>
          <a:xfrm>
            <a:off x="83303" y="38610"/>
            <a:ext cx="1118964" cy="425107"/>
          </a:xfrm>
          <a:prstGeom prst="ellipse">
            <a:avLst/>
          </a:prstGeom>
          <a:noFill/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EB8719F-7EEC-340B-B035-5E62B1E1FC4C}"/>
              </a:ext>
            </a:extLst>
          </p:cNvPr>
          <p:cNvSpPr/>
          <p:nvPr/>
        </p:nvSpPr>
        <p:spPr>
          <a:xfrm>
            <a:off x="9104632" y="4295698"/>
            <a:ext cx="2888441" cy="79354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C16750E-F100-3703-29EF-D9972D59902E}"/>
              </a:ext>
            </a:extLst>
          </p:cNvPr>
          <p:cNvSpPr/>
          <p:nvPr/>
        </p:nvSpPr>
        <p:spPr>
          <a:xfrm>
            <a:off x="9104633" y="3524553"/>
            <a:ext cx="2888441" cy="795045"/>
          </a:xfrm>
          <a:prstGeom prst="rect">
            <a:avLst/>
          </a:prstGeom>
          <a:solidFill>
            <a:srgbClr val="E8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2BEADC-450C-F317-E160-E46D3C87E5FF}"/>
              </a:ext>
            </a:extLst>
          </p:cNvPr>
          <p:cNvSpPr/>
          <p:nvPr/>
        </p:nvSpPr>
        <p:spPr>
          <a:xfrm>
            <a:off x="9104633" y="3257479"/>
            <a:ext cx="2902195" cy="234097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10972800" cy="75891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34797" y="79222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SoniX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58" y="-36812"/>
            <a:ext cx="1401265" cy="719970"/>
          </a:xfrm>
          <a:prstGeom prst="rect">
            <a:avLst/>
          </a:prstGeom>
        </p:spPr>
      </p:pic>
      <p:grpSp>
        <p:nvGrpSpPr>
          <p:cNvPr id="2" name="Flowchart (editable group)"/>
          <p:cNvGrpSpPr/>
          <p:nvPr/>
        </p:nvGrpSpPr>
        <p:grpSpPr>
          <a:xfrm>
            <a:off x="274320" y="1183084"/>
            <a:ext cx="8641080" cy="5043007"/>
            <a:chOff x="274320" y="1176741"/>
            <a:chExt cx="8641080" cy="5043007"/>
          </a:xfrm>
        </p:grpSpPr>
        <p:sp>
          <p:nvSpPr>
            <p:cNvPr id="17410" name="Green panel 1"/>
            <p:cNvSpPr/>
            <p:nvPr/>
          </p:nvSpPr>
          <p:spPr>
            <a:xfrm>
              <a:off x="274320" y="2210597"/>
              <a:ext cx="8641080" cy="4009151"/>
            </a:xfrm>
            <a:prstGeom prst="rect">
              <a:avLst/>
            </a:prstGeom>
            <a:solidFill>
              <a:srgbClr val="DFF2D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7412" name="Arrow 3"/>
            <p:cNvCxnSpPr/>
            <p:nvPr/>
          </p:nvCxnSpPr>
          <p:spPr>
            <a:xfrm flipH="1">
              <a:off x="5850696" y="1595993"/>
              <a:ext cx="633680" cy="0"/>
            </a:xfrm>
            <a:prstGeom prst="line">
              <a:avLst/>
            </a:prstGeom>
            <a:ln w="19685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14" name="Arrow 5"/>
            <p:cNvCxnSpPr/>
            <p:nvPr/>
          </p:nvCxnSpPr>
          <p:spPr>
            <a:xfrm flipH="1">
              <a:off x="2762951" y="1630212"/>
              <a:ext cx="633679" cy="0"/>
            </a:xfrm>
            <a:prstGeom prst="line">
              <a:avLst/>
            </a:prstGeom>
            <a:ln w="19685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15" name="Box 6"/>
            <p:cNvSpPr/>
            <p:nvPr/>
          </p:nvSpPr>
          <p:spPr>
            <a:xfrm>
              <a:off x="274320" y="1176741"/>
              <a:ext cx="2477109" cy="838504"/>
            </a:xfrm>
            <a:prstGeom prst="rect">
              <a:avLst/>
            </a:prstGeom>
            <a:solidFill>
              <a:srgbClr val="FFD6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1400" b="0" i="0" dirty="0">
                  <a:solidFill>
                    <a:srgbClr val="000000"/>
                  </a:solidFill>
                  <a:latin typeface="Times New Roman"/>
                </a:rPr>
                <a:t>Read Sensor Data</a:t>
              </a:r>
            </a:p>
            <a:p>
              <a:pPr algn="ctr"/>
              <a:r>
                <a:rPr sz="1400" b="0" i="0" dirty="0">
                  <a:solidFill>
                    <a:srgbClr val="000000"/>
                  </a:solidFill>
                  <a:latin typeface="Times New Roman"/>
                </a:rPr>
                <a:t>(Arc/UV, Gas, IMU)</a:t>
              </a:r>
            </a:p>
            <a:p>
              <a:pPr algn="ctr"/>
              <a:r>
                <a:rPr sz="1400" b="0" i="0" dirty="0">
                  <a:solidFill>
                    <a:srgbClr val="000000"/>
                  </a:solidFill>
                  <a:latin typeface="Times New Roman"/>
                </a:rPr>
                <a:t>continuously</a:t>
              </a:r>
            </a:p>
          </p:txBody>
        </p:sp>
        <p:cxnSp>
          <p:nvCxnSpPr>
            <p:cNvPr id="17416" name="Arrow 7"/>
            <p:cNvCxnSpPr/>
            <p:nvPr/>
          </p:nvCxnSpPr>
          <p:spPr>
            <a:xfrm>
              <a:off x="677570" y="2027224"/>
              <a:ext cx="0" cy="539039"/>
            </a:xfrm>
            <a:prstGeom prst="line">
              <a:avLst/>
            </a:prstGeom>
            <a:ln w="15748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17" name="Dashed group 8"/>
            <p:cNvSpPr/>
            <p:nvPr/>
          </p:nvSpPr>
          <p:spPr>
            <a:xfrm>
              <a:off x="447141" y="2566263"/>
              <a:ext cx="3456432" cy="1018184"/>
            </a:xfrm>
            <a:prstGeom prst="rect">
              <a:avLst/>
            </a:prstGeom>
            <a:noFill/>
            <a:ln w="19050">
              <a:solidFill>
                <a:srgbClr val="1F1FA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18" name="Box 9"/>
            <p:cNvSpPr/>
            <p:nvPr/>
          </p:nvSpPr>
          <p:spPr>
            <a:xfrm>
              <a:off x="562356" y="2626156"/>
              <a:ext cx="979322" cy="32941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 i="0">
                  <a:solidFill>
                    <a:srgbClr val="000000"/>
                  </a:solidFill>
                  <a:latin typeface="Times New Roman"/>
                </a:rPr>
                <a:t>Arc / UV Sensor</a:t>
              </a:r>
            </a:p>
          </p:txBody>
        </p:sp>
        <p:cxnSp>
          <p:nvCxnSpPr>
            <p:cNvPr id="17419" name="Arrow 10"/>
            <p:cNvCxnSpPr/>
            <p:nvPr/>
          </p:nvCxnSpPr>
          <p:spPr>
            <a:xfrm>
              <a:off x="1052017" y="2955569"/>
              <a:ext cx="0" cy="197647"/>
            </a:xfrm>
            <a:prstGeom prst="line">
              <a:avLst/>
            </a:prstGeom>
            <a:ln w="11811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20" name="Box 11"/>
            <p:cNvSpPr/>
            <p:nvPr/>
          </p:nvSpPr>
          <p:spPr>
            <a:xfrm>
              <a:off x="562356" y="3165195"/>
              <a:ext cx="979322" cy="29946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750" b="0" i="0">
                  <a:solidFill>
                    <a:srgbClr val="000000"/>
                  </a:solidFill>
                  <a:latin typeface="Times New Roman"/>
                </a:rPr>
                <a:t>Intensity</a:t>
              </a:r>
            </a:p>
            <a:p>
              <a:pPr algn="ctr"/>
              <a:r>
                <a:rPr sz="750" b="0" i="0">
                  <a:solidFill>
                    <a:srgbClr val="000000"/>
                  </a:solidFill>
                  <a:latin typeface="Times New Roman"/>
                </a:rPr>
                <a:t>+ Duration</a:t>
              </a:r>
            </a:p>
          </p:txBody>
        </p:sp>
        <p:sp>
          <p:nvSpPr>
            <p:cNvPr id="17421" name="Box 12"/>
            <p:cNvSpPr/>
            <p:nvPr/>
          </p:nvSpPr>
          <p:spPr>
            <a:xfrm>
              <a:off x="1668414" y="2626156"/>
              <a:ext cx="979322" cy="32941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 i="0">
                  <a:solidFill>
                    <a:srgbClr val="000000"/>
                  </a:solidFill>
                  <a:latin typeface="Times New Roman"/>
                </a:rPr>
                <a:t>Gas Sensor</a:t>
              </a:r>
            </a:p>
          </p:txBody>
        </p:sp>
        <p:cxnSp>
          <p:nvCxnSpPr>
            <p:cNvPr id="17422" name="Arrow 13"/>
            <p:cNvCxnSpPr/>
            <p:nvPr/>
          </p:nvCxnSpPr>
          <p:spPr>
            <a:xfrm>
              <a:off x="2158075" y="2955569"/>
              <a:ext cx="0" cy="197647"/>
            </a:xfrm>
            <a:prstGeom prst="line">
              <a:avLst/>
            </a:prstGeom>
            <a:ln w="11811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23" name="Box 14"/>
            <p:cNvSpPr/>
            <p:nvPr/>
          </p:nvSpPr>
          <p:spPr>
            <a:xfrm>
              <a:off x="1668414" y="3165195"/>
              <a:ext cx="979322" cy="29946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750" b="0" i="0">
                  <a:solidFill>
                    <a:srgbClr val="000000"/>
                  </a:solidFill>
                  <a:latin typeface="Times New Roman"/>
                </a:rPr>
                <a:t>Gas Level</a:t>
              </a:r>
            </a:p>
            <a:p>
              <a:pPr algn="ctr"/>
              <a:r>
                <a:rPr sz="750" b="0" i="0">
                  <a:solidFill>
                    <a:srgbClr val="000000"/>
                  </a:solidFill>
                  <a:latin typeface="Times New Roman"/>
                </a:rPr>
                <a:t>+ Duration</a:t>
              </a:r>
            </a:p>
          </p:txBody>
        </p:sp>
        <p:sp>
          <p:nvSpPr>
            <p:cNvPr id="17424" name="Box 15"/>
            <p:cNvSpPr/>
            <p:nvPr/>
          </p:nvSpPr>
          <p:spPr>
            <a:xfrm>
              <a:off x="2774472" y="2626156"/>
              <a:ext cx="979322" cy="329412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1" i="0">
                  <a:solidFill>
                    <a:srgbClr val="000000"/>
                  </a:solidFill>
                  <a:latin typeface="Times New Roman"/>
                </a:rPr>
                <a:t>IMU Sensor</a:t>
              </a:r>
            </a:p>
          </p:txBody>
        </p:sp>
        <p:cxnSp>
          <p:nvCxnSpPr>
            <p:cNvPr id="17425" name="Arrow 16"/>
            <p:cNvCxnSpPr/>
            <p:nvPr/>
          </p:nvCxnSpPr>
          <p:spPr>
            <a:xfrm>
              <a:off x="3264133" y="2955569"/>
              <a:ext cx="0" cy="197647"/>
            </a:xfrm>
            <a:prstGeom prst="line">
              <a:avLst/>
            </a:prstGeom>
            <a:ln w="11811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26" name="Box 17"/>
            <p:cNvSpPr/>
            <p:nvPr/>
          </p:nvSpPr>
          <p:spPr>
            <a:xfrm>
              <a:off x="2762951" y="3194903"/>
              <a:ext cx="979322" cy="299466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750" b="0" i="0">
                  <a:solidFill>
                    <a:srgbClr val="000000"/>
                  </a:solidFill>
                  <a:latin typeface="Times New Roman"/>
                </a:rPr>
                <a:t>Movement</a:t>
              </a:r>
            </a:p>
            <a:p>
              <a:pPr algn="ctr"/>
              <a:r>
                <a:rPr sz="750" b="0" i="0">
                  <a:solidFill>
                    <a:srgbClr val="000000"/>
                  </a:solidFill>
                  <a:latin typeface="Times New Roman"/>
                </a:rPr>
                <a:t>+ Orientation</a:t>
              </a:r>
            </a:p>
          </p:txBody>
        </p:sp>
        <p:cxnSp>
          <p:nvCxnSpPr>
            <p:cNvPr id="17427" name="Arrow 18"/>
            <p:cNvCxnSpPr/>
            <p:nvPr/>
          </p:nvCxnSpPr>
          <p:spPr>
            <a:xfrm>
              <a:off x="3932377" y="3075355"/>
              <a:ext cx="374447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28" name="Box 19"/>
            <p:cNvSpPr/>
            <p:nvPr/>
          </p:nvSpPr>
          <p:spPr>
            <a:xfrm>
              <a:off x="4335627" y="2745943"/>
              <a:ext cx="1036929" cy="658825"/>
            </a:xfrm>
            <a:prstGeom prst="rect">
              <a:avLst/>
            </a:prstGeom>
            <a:solidFill>
              <a:srgbClr val="EBCB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1000" b="1" i="0">
                  <a:solidFill>
                    <a:srgbClr val="000000"/>
                  </a:solidFill>
                  <a:latin typeface="Times New Roman"/>
                </a:rPr>
                <a:t>Event</a:t>
              </a:r>
            </a:p>
            <a:p>
              <a:pPr algn="ctr"/>
              <a:r>
                <a:rPr sz="1000" b="1" i="0">
                  <a:solidFill>
                    <a:srgbClr val="000000"/>
                  </a:solidFill>
                  <a:latin typeface="Times New Roman"/>
                </a:rPr>
                <a:t>Engine</a:t>
              </a:r>
            </a:p>
          </p:txBody>
        </p:sp>
        <p:cxnSp>
          <p:nvCxnSpPr>
            <p:cNvPr id="17429" name="Arrow 20"/>
            <p:cNvCxnSpPr/>
            <p:nvPr/>
          </p:nvCxnSpPr>
          <p:spPr>
            <a:xfrm>
              <a:off x="5401360" y="3075355"/>
              <a:ext cx="403251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30" name="Dashed group 21"/>
            <p:cNvSpPr/>
            <p:nvPr/>
          </p:nvSpPr>
          <p:spPr>
            <a:xfrm>
              <a:off x="5804611" y="2506370"/>
              <a:ext cx="1901037" cy="1167917"/>
            </a:xfrm>
            <a:prstGeom prst="rect">
              <a:avLst/>
            </a:prstGeom>
            <a:noFill/>
            <a:ln w="19050">
              <a:solidFill>
                <a:srgbClr val="1F1FA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31" name="Box 22"/>
            <p:cNvSpPr/>
            <p:nvPr/>
          </p:nvSpPr>
          <p:spPr>
            <a:xfrm>
              <a:off x="6035040" y="2596210"/>
              <a:ext cx="1440180" cy="419252"/>
            </a:xfrm>
            <a:prstGeom prst="rect">
              <a:avLst/>
            </a:prstGeom>
            <a:solidFill>
              <a:srgbClr val="EBCB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950" b="0" i="0">
                  <a:solidFill>
                    <a:srgbClr val="000000"/>
                  </a:solidFill>
                  <a:latin typeface="Times New Roman"/>
                </a:rPr>
                <a:t>Abnormal</a:t>
              </a:r>
            </a:p>
            <a:p>
              <a:pPr algn="ctr"/>
              <a:r>
                <a:rPr sz="950" b="0" i="0">
                  <a:solidFill>
                    <a:srgbClr val="000000"/>
                  </a:solidFill>
                  <a:latin typeface="Times New Roman"/>
                </a:rPr>
                <a:t>Event ?</a:t>
              </a:r>
            </a:p>
          </p:txBody>
        </p:sp>
        <p:sp>
          <p:nvSpPr>
            <p:cNvPr id="17432" name="Box 23"/>
            <p:cNvSpPr/>
            <p:nvPr/>
          </p:nvSpPr>
          <p:spPr>
            <a:xfrm>
              <a:off x="5977432" y="3195142"/>
              <a:ext cx="576072" cy="329412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50" b="0" i="0">
                  <a:solidFill>
                    <a:srgbClr val="000000"/>
                  </a:solidFill>
                  <a:latin typeface="Times New Roman"/>
                </a:rPr>
                <a:t>Yes</a:t>
              </a:r>
            </a:p>
          </p:txBody>
        </p:sp>
        <p:sp>
          <p:nvSpPr>
            <p:cNvPr id="17433" name="Box 24"/>
            <p:cNvSpPr/>
            <p:nvPr/>
          </p:nvSpPr>
          <p:spPr>
            <a:xfrm>
              <a:off x="6899148" y="3195142"/>
              <a:ext cx="576072" cy="329412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50" b="0" i="0">
                  <a:solidFill>
                    <a:srgbClr val="000000"/>
                  </a:solidFill>
                  <a:latin typeface="Times New Roman"/>
                </a:rPr>
                <a:t>No</a:t>
              </a:r>
            </a:p>
          </p:txBody>
        </p:sp>
        <p:cxnSp>
          <p:nvCxnSpPr>
            <p:cNvPr id="17434" name="Line 25"/>
            <p:cNvCxnSpPr/>
            <p:nvPr/>
          </p:nvCxnSpPr>
          <p:spPr>
            <a:xfrm>
              <a:off x="7504023" y="3362843"/>
              <a:ext cx="374447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35" name="Arrow 26"/>
            <p:cNvCxnSpPr/>
            <p:nvPr/>
          </p:nvCxnSpPr>
          <p:spPr>
            <a:xfrm flipV="1">
              <a:off x="7878470" y="3045409"/>
              <a:ext cx="0" cy="317434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36" name="Box 27"/>
            <p:cNvSpPr/>
            <p:nvPr/>
          </p:nvSpPr>
          <p:spPr>
            <a:xfrm>
              <a:off x="7878470" y="2506370"/>
              <a:ext cx="950518" cy="539038"/>
            </a:xfrm>
            <a:prstGeom prst="rect">
              <a:avLst/>
            </a:prstGeom>
            <a:solidFill>
              <a:srgbClr val="FF9A9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50" b="0" i="0">
                  <a:solidFill>
                    <a:srgbClr val="000000"/>
                  </a:solidFill>
                  <a:latin typeface="Times New Roman"/>
                </a:rPr>
                <a:t>Continue</a:t>
              </a:r>
            </a:p>
            <a:p>
              <a:pPr algn="ctr"/>
              <a:r>
                <a:rPr sz="850" b="0" i="0">
                  <a:solidFill>
                    <a:srgbClr val="000000"/>
                  </a:solidFill>
                  <a:latin typeface="Times New Roman"/>
                </a:rPr>
                <a:t>Sensing</a:t>
              </a:r>
            </a:p>
          </p:txBody>
        </p:sp>
        <p:sp>
          <p:nvSpPr>
            <p:cNvPr id="17437" name="Label 28"/>
            <p:cNvSpPr txBox="1"/>
            <p:nvPr/>
          </p:nvSpPr>
          <p:spPr>
            <a:xfrm>
              <a:off x="7895752" y="3123270"/>
              <a:ext cx="921715" cy="17967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750" b="0" i="1">
                  <a:solidFill>
                    <a:srgbClr val="000000"/>
                  </a:solidFill>
                  <a:latin typeface="Times New Roman"/>
                </a:rPr>
                <a:t>(don't store)</a:t>
              </a:r>
            </a:p>
          </p:txBody>
        </p:sp>
        <p:cxnSp>
          <p:nvCxnSpPr>
            <p:cNvPr id="17438" name="Line 29"/>
            <p:cNvCxnSpPr/>
            <p:nvPr/>
          </p:nvCxnSpPr>
          <p:spPr>
            <a:xfrm>
              <a:off x="6265468" y="3524554"/>
              <a:ext cx="0" cy="251552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39" name="Line 30"/>
            <p:cNvCxnSpPr/>
            <p:nvPr/>
          </p:nvCxnSpPr>
          <p:spPr>
            <a:xfrm flipH="1">
              <a:off x="1196035" y="3776106"/>
              <a:ext cx="5069433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40" name="Arrow 31"/>
            <p:cNvCxnSpPr/>
            <p:nvPr/>
          </p:nvCxnSpPr>
          <p:spPr>
            <a:xfrm>
              <a:off x="1196035" y="3776106"/>
              <a:ext cx="0" cy="586953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41" name="Dashed group 32"/>
            <p:cNvSpPr/>
            <p:nvPr/>
          </p:nvSpPr>
          <p:spPr>
            <a:xfrm>
              <a:off x="447141" y="4003700"/>
              <a:ext cx="4320540" cy="1916582"/>
            </a:xfrm>
            <a:prstGeom prst="rect">
              <a:avLst/>
            </a:prstGeom>
            <a:noFill/>
            <a:ln w="19050">
              <a:solidFill>
                <a:srgbClr val="1F1FA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42" name="Label 33"/>
            <p:cNvSpPr txBox="1"/>
            <p:nvPr/>
          </p:nvSpPr>
          <p:spPr>
            <a:xfrm>
              <a:off x="1829714" y="4075572"/>
              <a:ext cx="1728216" cy="17967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1">
                  <a:solidFill>
                    <a:srgbClr val="000000"/>
                  </a:solidFill>
                  <a:latin typeface="Times New Roman"/>
                </a:rPr>
                <a:t>Verified abnormal event</a:t>
              </a:r>
            </a:p>
          </p:txBody>
        </p:sp>
        <p:sp>
          <p:nvSpPr>
            <p:cNvPr id="17443" name="Box 34"/>
            <p:cNvSpPr/>
            <p:nvPr/>
          </p:nvSpPr>
          <p:spPr>
            <a:xfrm>
              <a:off x="619963" y="4422952"/>
              <a:ext cx="1094536" cy="539038"/>
            </a:xfrm>
            <a:prstGeom prst="rect">
              <a:avLst/>
            </a:prstGeom>
            <a:solidFill>
              <a:srgbClr val="C9FB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950" b="0" i="0">
                  <a:solidFill>
                    <a:srgbClr val="000000"/>
                  </a:solidFill>
                  <a:latin typeface="Times New Roman"/>
                </a:rPr>
                <a:t>Verify</a:t>
              </a:r>
            </a:p>
            <a:p>
              <a:pPr algn="ctr"/>
              <a:r>
                <a:rPr sz="950" b="0" i="0">
                  <a:solidFill>
                    <a:srgbClr val="000000"/>
                  </a:solidFill>
                  <a:latin typeface="Times New Roman"/>
                </a:rPr>
                <a:t>Event</a:t>
              </a:r>
            </a:p>
          </p:txBody>
        </p:sp>
        <p:cxnSp>
          <p:nvCxnSpPr>
            <p:cNvPr id="17444" name="Arrow 35"/>
            <p:cNvCxnSpPr/>
            <p:nvPr/>
          </p:nvCxnSpPr>
          <p:spPr>
            <a:xfrm>
              <a:off x="1743303" y="4692472"/>
              <a:ext cx="316840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45" name="Box 36"/>
            <p:cNvSpPr/>
            <p:nvPr/>
          </p:nvSpPr>
          <p:spPr>
            <a:xfrm>
              <a:off x="2088946" y="4422952"/>
              <a:ext cx="1094536" cy="539038"/>
            </a:xfrm>
            <a:prstGeom prst="rect">
              <a:avLst/>
            </a:prstGeom>
            <a:solidFill>
              <a:srgbClr val="C9FB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950" b="0" i="0">
                  <a:solidFill>
                    <a:srgbClr val="000000"/>
                  </a:solidFill>
                  <a:latin typeface="Times New Roman"/>
                </a:rPr>
                <a:t>Classify</a:t>
              </a:r>
            </a:p>
            <a:p>
              <a:pPr algn="ctr"/>
              <a:r>
                <a:rPr sz="950" b="0" i="0">
                  <a:solidFill>
                    <a:srgbClr val="000000"/>
                  </a:solidFill>
                  <a:latin typeface="Times New Roman"/>
                </a:rPr>
                <a:t>Severity</a:t>
              </a:r>
            </a:p>
          </p:txBody>
        </p:sp>
        <p:cxnSp>
          <p:nvCxnSpPr>
            <p:cNvPr id="17446" name="Line 37"/>
            <p:cNvCxnSpPr/>
            <p:nvPr/>
          </p:nvCxnSpPr>
          <p:spPr>
            <a:xfrm>
              <a:off x="3212287" y="4692472"/>
              <a:ext cx="230429" cy="0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47" name="Line 38"/>
            <p:cNvCxnSpPr/>
            <p:nvPr/>
          </p:nvCxnSpPr>
          <p:spPr>
            <a:xfrm flipV="1">
              <a:off x="3442716" y="4303166"/>
              <a:ext cx="0" cy="389306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48" name="Arrow 39"/>
            <p:cNvCxnSpPr/>
            <p:nvPr/>
          </p:nvCxnSpPr>
          <p:spPr>
            <a:xfrm>
              <a:off x="3442716" y="4303166"/>
              <a:ext cx="144018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49" name="Line 40"/>
            <p:cNvCxnSpPr/>
            <p:nvPr/>
          </p:nvCxnSpPr>
          <p:spPr>
            <a:xfrm>
              <a:off x="3442716" y="4692472"/>
              <a:ext cx="0" cy="688772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0" name="Arrow 41"/>
            <p:cNvCxnSpPr/>
            <p:nvPr/>
          </p:nvCxnSpPr>
          <p:spPr>
            <a:xfrm>
              <a:off x="3442716" y="5381244"/>
              <a:ext cx="144018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51" name="Box 42"/>
            <p:cNvSpPr/>
            <p:nvPr/>
          </p:nvSpPr>
          <p:spPr>
            <a:xfrm>
              <a:off x="3586734" y="4063593"/>
              <a:ext cx="1094536" cy="479145"/>
            </a:xfrm>
            <a:prstGeom prst="rect">
              <a:avLst/>
            </a:prstGeom>
            <a:solidFill>
              <a:srgbClr val="5CE1E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50" b="0" i="0">
                  <a:solidFill>
                    <a:srgbClr val="000000"/>
                  </a:solidFill>
                  <a:latin typeface="Times New Roman"/>
                </a:rPr>
                <a:t>Local Alert</a:t>
              </a:r>
            </a:p>
            <a:p>
              <a:pPr algn="ctr"/>
              <a:r>
                <a:rPr sz="850" b="0" i="0">
                  <a:solidFill>
                    <a:srgbClr val="000000"/>
                  </a:solidFill>
                  <a:latin typeface="Times New Roman"/>
                </a:rPr>
                <a:t>Buzzer + Vibration</a:t>
              </a:r>
            </a:p>
          </p:txBody>
        </p:sp>
        <p:sp>
          <p:nvSpPr>
            <p:cNvPr id="17452" name="Box 43"/>
            <p:cNvSpPr/>
            <p:nvPr/>
          </p:nvSpPr>
          <p:spPr>
            <a:xfrm>
              <a:off x="3586734" y="5171617"/>
              <a:ext cx="1094536" cy="479145"/>
            </a:xfrm>
            <a:prstGeom prst="rect">
              <a:avLst/>
            </a:prstGeom>
            <a:solidFill>
              <a:srgbClr val="BBD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950" b="1" i="0">
                  <a:solidFill>
                    <a:srgbClr val="000000"/>
                  </a:solidFill>
                  <a:latin typeface="Times New Roman"/>
                </a:rPr>
                <a:t>Create Log</a:t>
              </a:r>
            </a:p>
          </p:txBody>
        </p:sp>
        <p:sp>
          <p:nvSpPr>
            <p:cNvPr id="17453" name="Dashed group 44"/>
            <p:cNvSpPr/>
            <p:nvPr/>
          </p:nvSpPr>
          <p:spPr>
            <a:xfrm>
              <a:off x="5055717" y="3913860"/>
              <a:ext cx="3686860" cy="2006422"/>
            </a:xfrm>
            <a:prstGeom prst="rect">
              <a:avLst/>
            </a:prstGeom>
            <a:noFill/>
            <a:ln w="19050">
              <a:solidFill>
                <a:srgbClr val="1F1FA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454" name="Label 45"/>
            <p:cNvSpPr txBox="1"/>
            <p:nvPr/>
          </p:nvSpPr>
          <p:spPr>
            <a:xfrm>
              <a:off x="5170932" y="3955785"/>
              <a:ext cx="1440180" cy="17967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800" b="0" i="1">
                  <a:solidFill>
                    <a:srgbClr val="000000"/>
                  </a:solidFill>
                  <a:latin typeface="Times New Roman"/>
                </a:rPr>
                <a:t>Data handling</a:t>
              </a:r>
            </a:p>
          </p:txBody>
        </p:sp>
        <p:cxnSp>
          <p:nvCxnSpPr>
            <p:cNvPr id="17455" name="Arrow 46"/>
            <p:cNvCxnSpPr/>
            <p:nvPr/>
          </p:nvCxnSpPr>
          <p:spPr>
            <a:xfrm>
              <a:off x="4710074" y="5411190"/>
              <a:ext cx="547268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56" name="Box 47"/>
            <p:cNvSpPr/>
            <p:nvPr/>
          </p:nvSpPr>
          <p:spPr>
            <a:xfrm>
              <a:off x="5286146" y="5141671"/>
              <a:ext cx="1152144" cy="539038"/>
            </a:xfrm>
            <a:prstGeom prst="rect">
              <a:avLst/>
            </a:prstGeom>
            <a:solidFill>
              <a:srgbClr val="EBCB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950" b="0" i="0" dirty="0">
                  <a:solidFill>
                    <a:srgbClr val="000000"/>
                  </a:solidFill>
                  <a:latin typeface="Times New Roman"/>
                </a:rPr>
                <a:t>Wi-Fi</a:t>
              </a:r>
            </a:p>
            <a:p>
              <a:pPr algn="ctr"/>
              <a:r>
                <a:rPr sz="950" b="0" i="0" dirty="0">
                  <a:solidFill>
                    <a:srgbClr val="000000"/>
                  </a:solidFill>
                  <a:latin typeface="Times New Roman"/>
                </a:rPr>
                <a:t>Available ?</a:t>
              </a:r>
            </a:p>
          </p:txBody>
        </p:sp>
        <p:cxnSp>
          <p:nvCxnSpPr>
            <p:cNvPr id="17457" name="Line 48"/>
            <p:cNvCxnSpPr/>
            <p:nvPr/>
          </p:nvCxnSpPr>
          <p:spPr>
            <a:xfrm flipV="1">
              <a:off x="5862218" y="4482846"/>
              <a:ext cx="0" cy="646846"/>
            </a:xfrm>
            <a:prstGeom prst="line">
              <a:avLst/>
            </a:prstGeom>
            <a:ln w="1778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8" name="Arrow 49"/>
            <p:cNvCxnSpPr/>
            <p:nvPr/>
          </p:nvCxnSpPr>
          <p:spPr>
            <a:xfrm>
              <a:off x="5862218" y="4482846"/>
              <a:ext cx="921715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59" name="Box 50"/>
            <p:cNvSpPr/>
            <p:nvPr/>
          </p:nvSpPr>
          <p:spPr>
            <a:xfrm>
              <a:off x="5977432" y="4542739"/>
              <a:ext cx="460857" cy="299466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00" b="0" i="0">
                  <a:solidFill>
                    <a:srgbClr val="000000"/>
                  </a:solidFill>
                  <a:latin typeface="Times New Roman"/>
                </a:rPr>
                <a:t>Yes</a:t>
              </a:r>
            </a:p>
          </p:txBody>
        </p:sp>
        <p:sp>
          <p:nvSpPr>
            <p:cNvPr id="17460" name="Box 51"/>
            <p:cNvSpPr/>
            <p:nvPr/>
          </p:nvSpPr>
          <p:spPr>
            <a:xfrm>
              <a:off x="6812737" y="4243273"/>
              <a:ext cx="864108" cy="479145"/>
            </a:xfrm>
            <a:prstGeom prst="rect">
              <a:avLst/>
            </a:prstGeom>
            <a:solidFill>
              <a:srgbClr val="FFE5C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950" b="1" i="0">
                  <a:solidFill>
                    <a:srgbClr val="000000"/>
                  </a:solidFill>
                  <a:latin typeface="Times New Roman"/>
                </a:rPr>
                <a:t>Server</a:t>
              </a:r>
            </a:p>
          </p:txBody>
        </p:sp>
        <p:cxnSp>
          <p:nvCxnSpPr>
            <p:cNvPr id="17461" name="Arrow 52"/>
            <p:cNvCxnSpPr/>
            <p:nvPr/>
          </p:nvCxnSpPr>
          <p:spPr>
            <a:xfrm>
              <a:off x="7694127" y="4482846"/>
              <a:ext cx="184343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62" name="Box 53"/>
            <p:cNvSpPr/>
            <p:nvPr/>
          </p:nvSpPr>
          <p:spPr>
            <a:xfrm>
              <a:off x="7907273" y="4243273"/>
              <a:ext cx="806500" cy="479145"/>
            </a:xfrm>
            <a:prstGeom prst="rect">
              <a:avLst/>
            </a:prstGeom>
            <a:solidFill>
              <a:srgbClr val="BBD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50" b="1" i="0">
                  <a:solidFill>
                    <a:srgbClr val="000000"/>
                  </a:solidFill>
                  <a:latin typeface="Times New Roman"/>
                </a:rPr>
                <a:t>Dashboard</a:t>
              </a:r>
            </a:p>
          </p:txBody>
        </p:sp>
        <p:cxnSp>
          <p:nvCxnSpPr>
            <p:cNvPr id="17463" name="Arrow 54"/>
            <p:cNvCxnSpPr/>
            <p:nvPr/>
          </p:nvCxnSpPr>
          <p:spPr>
            <a:xfrm>
              <a:off x="6467094" y="5411190"/>
              <a:ext cx="316839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64" name="Box 55"/>
            <p:cNvSpPr/>
            <p:nvPr/>
          </p:nvSpPr>
          <p:spPr>
            <a:xfrm>
              <a:off x="6484376" y="5105735"/>
              <a:ext cx="288036" cy="203636"/>
            </a:xfrm>
            <a:prstGeom prst="rect">
              <a:avLst/>
            </a:prstGeom>
            <a:solidFill>
              <a:srgbClr val="FFD1D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750" b="0" i="0">
                  <a:solidFill>
                    <a:srgbClr val="000000"/>
                  </a:solidFill>
                  <a:latin typeface="Times New Roman"/>
                </a:rPr>
                <a:t>No</a:t>
              </a:r>
            </a:p>
          </p:txBody>
        </p:sp>
        <p:sp>
          <p:nvSpPr>
            <p:cNvPr id="17465" name="Box 56"/>
            <p:cNvSpPr/>
            <p:nvPr/>
          </p:nvSpPr>
          <p:spPr>
            <a:xfrm>
              <a:off x="6812737" y="5141671"/>
              <a:ext cx="864108" cy="539038"/>
            </a:xfrm>
            <a:prstGeom prst="rect">
              <a:avLst/>
            </a:prstGeom>
            <a:solidFill>
              <a:srgbClr val="FBC4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50" b="0" i="0">
                  <a:solidFill>
                    <a:srgbClr val="000000"/>
                  </a:solidFill>
                  <a:latin typeface="Times New Roman"/>
                </a:rPr>
                <a:t>SD Card</a:t>
              </a:r>
            </a:p>
            <a:p>
              <a:pPr algn="ctr"/>
              <a:r>
                <a:rPr sz="850" b="0" i="0">
                  <a:solidFill>
                    <a:srgbClr val="000000"/>
                  </a:solidFill>
                  <a:latin typeface="Times New Roman"/>
                </a:rPr>
                <a:t>(offline)</a:t>
              </a:r>
            </a:p>
          </p:txBody>
        </p:sp>
        <p:cxnSp>
          <p:nvCxnSpPr>
            <p:cNvPr id="17466" name="Arrow 57"/>
            <p:cNvCxnSpPr/>
            <p:nvPr/>
          </p:nvCxnSpPr>
          <p:spPr>
            <a:xfrm>
              <a:off x="7694127" y="5411190"/>
              <a:ext cx="184343" cy="0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67" name="Box 58"/>
            <p:cNvSpPr/>
            <p:nvPr/>
          </p:nvSpPr>
          <p:spPr>
            <a:xfrm>
              <a:off x="7907273" y="5141671"/>
              <a:ext cx="806500" cy="539038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7432" tIns="9144" rIns="27432" bIns="9144" rtlCol="0" anchor="ctr"/>
            <a:lstStyle/>
            <a:p>
              <a:pPr algn="ctr"/>
              <a:r>
                <a:rPr sz="850" b="0" i="0">
                  <a:solidFill>
                    <a:srgbClr val="000000"/>
                  </a:solidFill>
                  <a:latin typeface="Times New Roman"/>
                </a:rPr>
                <a:t>Auto</a:t>
              </a:r>
            </a:p>
            <a:p>
              <a:pPr algn="ctr"/>
              <a:r>
                <a:rPr sz="850" b="0" i="0">
                  <a:solidFill>
                    <a:srgbClr val="000000"/>
                  </a:solidFill>
                  <a:latin typeface="Times New Roman"/>
                </a:rPr>
                <a:t>Sync</a:t>
              </a:r>
            </a:p>
          </p:txBody>
        </p:sp>
        <p:cxnSp>
          <p:nvCxnSpPr>
            <p:cNvPr id="17468" name="Arrow 59"/>
            <p:cNvCxnSpPr/>
            <p:nvPr/>
          </p:nvCxnSpPr>
          <p:spPr>
            <a:xfrm flipV="1">
              <a:off x="8310524" y="4740386"/>
              <a:ext cx="0" cy="389306"/>
            </a:xfrm>
            <a:prstGeom prst="line">
              <a:avLst/>
            </a:prstGeom>
            <a:ln w="1778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69" name="Subtitle"/>
          <p:cNvSpPr txBox="1"/>
          <p:nvPr/>
        </p:nvSpPr>
        <p:spPr>
          <a:xfrm>
            <a:off x="3110319" y="714175"/>
            <a:ext cx="412882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&amp; Working Flow</a:t>
            </a:r>
          </a:p>
        </p:txBody>
      </p:sp>
      <p:sp>
        <p:nvSpPr>
          <p:cNvPr id="17471" name="Header HARDWARE"/>
          <p:cNvSpPr/>
          <p:nvPr/>
        </p:nvSpPr>
        <p:spPr>
          <a:xfrm>
            <a:off x="9122316" y="1080225"/>
            <a:ext cx="2913971" cy="216989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0" bIns="0" rtlCol="0" anchor="ctr"/>
          <a:lstStyle/>
          <a:p>
            <a:pPr algn="l"/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ardware</a:t>
            </a:r>
            <a:endParaRPr sz="1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472" name="Table HARDWAR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38333"/>
              </p:ext>
            </p:extLst>
          </p:nvPr>
        </p:nvGraphicFramePr>
        <p:xfrm>
          <a:off x="9104633" y="1397694"/>
          <a:ext cx="2931654" cy="174650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17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4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Controller</a:t>
                      </a:r>
                    </a:p>
                  </a:txBody>
                  <a:tcPr marL="54864" marR="54864" marT="18288" marB="18288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2A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</a:t>
                      </a:r>
                    </a:p>
                  </a:txBody>
                  <a:tcPr marL="54864" marR="54864" marT="18288" marB="18288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2A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UV/optical sensor, gas/fume sensor, MPU6050/IMU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Alerts</a:t>
                      </a:r>
                    </a:p>
                  </a:txBody>
                  <a:tcPr marL="54864" marR="54864" marT="18288" marB="18288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2A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Buzzer, vibration motor</a:t>
                      </a:r>
                    </a:p>
                  </a:txBody>
                  <a:tcPr marL="54864" marR="54864" marT="18288" marB="18288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2A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</a:t>
                      </a:r>
                    </a:p>
                  </a:txBody>
                  <a:tcPr marL="54864" marR="54864" marT="18288" marB="18288" anchor="ctr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dirty="0">
                          <a:solidFill>
                            <a:srgbClr val="0B2A4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Rechargeable battery, USB-C charging / power-management circuit</a:t>
                      </a:r>
                    </a:p>
                  </a:txBody>
                  <a:tcPr marL="54864" marR="54864" marT="18288" marB="18288" anchor="ctr"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478B4578-08E0-B0A2-D1B8-A5EE588DB47B}"/>
              </a:ext>
            </a:extLst>
          </p:cNvPr>
          <p:cNvSpPr/>
          <p:nvPr/>
        </p:nvSpPr>
        <p:spPr>
          <a:xfrm>
            <a:off x="9116173" y="3239145"/>
            <a:ext cx="2939670" cy="1890547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Box 6">
            <a:extLst>
              <a:ext uri="{FF2B5EF4-FFF2-40B4-BE49-F238E27FC236}">
                <a16:creationId xmlns:a16="http://schemas.microsoft.com/office/drawing/2014/main" id="{34B8810A-5FC3-E0A5-F00E-4BC044C8D39D}"/>
              </a:ext>
            </a:extLst>
          </p:cNvPr>
          <p:cNvSpPr/>
          <p:nvPr/>
        </p:nvSpPr>
        <p:spPr>
          <a:xfrm>
            <a:off x="3405935" y="1180990"/>
            <a:ext cx="2444761" cy="838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 lang="en-US" sz="140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Times New Roman"/>
              </a:rPr>
              <a:t>Initialize ESP32, Sensors,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Times New Roman"/>
              </a:rPr>
              <a:t>SD Card, Wi-Fi, Alerts,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Times New Roman"/>
              </a:rPr>
              <a:t>Power System</a:t>
            </a:r>
          </a:p>
          <a:p>
            <a:pPr algn="ctr"/>
            <a:endParaRPr sz="1400" b="0" i="0" dirty="0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1DD7A29-101A-59A7-E6FA-CBCA4ABB684E}"/>
              </a:ext>
            </a:extLst>
          </p:cNvPr>
          <p:cNvGrpSpPr/>
          <p:nvPr/>
        </p:nvGrpSpPr>
        <p:grpSpPr>
          <a:xfrm>
            <a:off x="9104631" y="3207933"/>
            <a:ext cx="2738092" cy="1755517"/>
            <a:chOff x="9075945" y="3153724"/>
            <a:chExt cx="2738092" cy="1755517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89CEE6D-4A2D-851A-BFE6-84330A96617C}"/>
                </a:ext>
              </a:extLst>
            </p:cNvPr>
            <p:cNvGrpSpPr/>
            <p:nvPr/>
          </p:nvGrpSpPr>
          <p:grpSpPr>
            <a:xfrm>
              <a:off x="9075945" y="3153724"/>
              <a:ext cx="2668914" cy="1755517"/>
              <a:chOff x="9018222" y="3586453"/>
              <a:chExt cx="2668914" cy="1788811"/>
            </a:xfrm>
          </p:grpSpPr>
          <p:pic>
            <p:nvPicPr>
              <p:cNvPr id="4" name="object 8">
                <a:extLst>
                  <a:ext uri="{FF2B5EF4-FFF2-40B4-BE49-F238E27FC236}">
                    <a16:creationId xmlns:a16="http://schemas.microsoft.com/office/drawing/2014/main" id="{5577A694-96D6-84EC-1912-D3A1C5F2B739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0101297" y="4077235"/>
                <a:ext cx="754344" cy="545113"/>
              </a:xfrm>
              <a:prstGeom prst="rect">
                <a:avLst/>
              </a:prstGeom>
            </p:spPr>
          </p:pic>
          <p:pic>
            <p:nvPicPr>
              <p:cNvPr id="5" name="object 9">
                <a:extLst>
                  <a:ext uri="{FF2B5EF4-FFF2-40B4-BE49-F238E27FC236}">
                    <a16:creationId xmlns:a16="http://schemas.microsoft.com/office/drawing/2014/main" id="{E313D2D1-7115-508A-76B3-2A2B45E203B6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9071307" y="4744166"/>
                <a:ext cx="972875" cy="631098"/>
              </a:xfrm>
              <a:prstGeom prst="rect">
                <a:avLst/>
              </a:prstGeom>
            </p:spPr>
          </p:pic>
          <p:pic>
            <p:nvPicPr>
              <p:cNvPr id="8" name="object 10">
                <a:extLst>
                  <a:ext uri="{FF2B5EF4-FFF2-40B4-BE49-F238E27FC236}">
                    <a16:creationId xmlns:a16="http://schemas.microsoft.com/office/drawing/2014/main" id="{D8B7B91A-5BAA-D5E9-1576-F5B742A55962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0101297" y="4758593"/>
                <a:ext cx="723540" cy="556530"/>
              </a:xfrm>
              <a:prstGeom prst="rect">
                <a:avLst/>
              </a:prstGeom>
            </p:spPr>
          </p:pic>
          <p:pic>
            <p:nvPicPr>
              <p:cNvPr id="9" name="object 21">
                <a:extLst>
                  <a:ext uri="{FF2B5EF4-FFF2-40B4-BE49-F238E27FC236}">
                    <a16:creationId xmlns:a16="http://schemas.microsoft.com/office/drawing/2014/main" id="{FA589FEA-C638-8103-2572-BBBC7DF8CAB0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0972070" y="3962181"/>
                <a:ext cx="715066" cy="739008"/>
              </a:xfrm>
              <a:prstGeom prst="rect">
                <a:avLst/>
              </a:prstGeom>
            </p:spPr>
          </p:pic>
          <p:pic>
            <p:nvPicPr>
              <p:cNvPr id="13" name="object 20">
                <a:extLst>
                  <a:ext uri="{FF2B5EF4-FFF2-40B4-BE49-F238E27FC236}">
                    <a16:creationId xmlns:a16="http://schemas.microsoft.com/office/drawing/2014/main" id="{9EDCAEFD-B6DD-3241-10E9-FFB854079315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9172413" y="4003700"/>
                <a:ext cx="716450" cy="645541"/>
              </a:xfrm>
              <a:prstGeom prst="rect">
                <a:avLst/>
              </a:prstGeom>
            </p:spPr>
          </p:pic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ECCF85-9A70-0490-7848-CDEEDC5A1343}"/>
                  </a:ext>
                </a:extLst>
              </p:cNvPr>
              <p:cNvSpPr txBox="1"/>
              <p:nvPr/>
            </p:nvSpPr>
            <p:spPr>
              <a:xfrm>
                <a:off x="9018222" y="3586453"/>
                <a:ext cx="1258870" cy="344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bg1">
                        <a:lumMod val="9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Techstack</a:t>
                </a:r>
              </a:p>
            </p:txBody>
          </p:sp>
        </p:grp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B38B43BE-EB48-08F6-A146-0E62A3F8A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1081051" y="4293984"/>
              <a:ext cx="732986" cy="604642"/>
            </a:xfrm>
            <a:prstGeom prst="rect">
              <a:avLst/>
            </a:prstGeom>
          </p:spPr>
        </p:pic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2EF126A9-3010-B21F-B01A-FBC8A603D9D0}"/>
              </a:ext>
            </a:extLst>
          </p:cNvPr>
          <p:cNvSpPr/>
          <p:nvPr/>
        </p:nvSpPr>
        <p:spPr>
          <a:xfrm>
            <a:off x="9152781" y="5198278"/>
            <a:ext cx="2864815" cy="102147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350" b="1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350" b="1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TECHNICAL CONCEPT</a:t>
            </a:r>
          </a:p>
          <a:p>
            <a:r>
              <a:rPr lang="en-US" sz="135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monitoring: continuously sense, but store/transmit only verified abnormal events</a:t>
            </a:r>
            <a:r>
              <a:rPr lang="en-US" sz="1350" dirty="0">
                <a:solidFill>
                  <a:srgbClr val="010000"/>
                </a:solidFill>
                <a:latin typeface="Arial"/>
              </a:rPr>
              <a:t>.</a:t>
            </a:r>
          </a:p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852D73-84B1-4936-5EF4-D209DFB5C8BA}"/>
              </a:ext>
            </a:extLst>
          </p:cNvPr>
          <p:cNvSpPr txBox="1"/>
          <p:nvPr/>
        </p:nvSpPr>
        <p:spPr>
          <a:xfrm>
            <a:off x="234797" y="6354997"/>
            <a:ext cx="11781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Links</a:t>
            </a:r>
          </a:p>
        </p:txBody>
      </p:sp>
      <p:sp>
        <p:nvSpPr>
          <p:cNvPr id="40" name="Box 6">
            <a:extLst>
              <a:ext uri="{FF2B5EF4-FFF2-40B4-BE49-F238E27FC236}">
                <a16:creationId xmlns:a16="http://schemas.microsoft.com/office/drawing/2014/main" id="{1C7E440B-7B5B-E1A3-DBAA-8EFDD78B2E0D}"/>
              </a:ext>
            </a:extLst>
          </p:cNvPr>
          <p:cNvSpPr/>
          <p:nvPr/>
        </p:nvSpPr>
        <p:spPr>
          <a:xfrm>
            <a:off x="6528245" y="1183084"/>
            <a:ext cx="2387155" cy="838504"/>
          </a:xfrm>
          <a:prstGeom prst="rect">
            <a:avLst/>
          </a:prstGeom>
          <a:solidFill>
            <a:srgbClr val="F9F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 lang="en-US" sz="140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Times New Roman"/>
              </a:rPr>
              <a:t>Power On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Times New Roman"/>
              </a:rPr>
              <a:t>Smart Module</a:t>
            </a:r>
          </a:p>
          <a:p>
            <a:pPr algn="ctr"/>
            <a:r>
              <a:rPr lang="en-US" sz="1400" dirty="0">
                <a:solidFill>
                  <a:srgbClr val="000000"/>
                </a:solidFill>
                <a:latin typeface="Times New Roman"/>
              </a:rPr>
              <a:t>(on Safety Vest)</a:t>
            </a:r>
          </a:p>
          <a:p>
            <a:pPr algn="ctr"/>
            <a:endParaRPr sz="1400" b="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Subtitle">
            <a:extLst>
              <a:ext uri="{FF2B5EF4-FFF2-40B4-BE49-F238E27FC236}">
                <a16:creationId xmlns:a16="http://schemas.microsoft.com/office/drawing/2014/main" id="{634D1AC6-B480-4837-8FD2-96ACEAD482A9}"/>
              </a:ext>
            </a:extLst>
          </p:cNvPr>
          <p:cNvSpPr txBox="1"/>
          <p:nvPr/>
        </p:nvSpPr>
        <p:spPr>
          <a:xfrm>
            <a:off x="9661490" y="714175"/>
            <a:ext cx="1920910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Hexagon 30">
            <a:extLst>
              <a:ext uri="{FF2B5EF4-FFF2-40B4-BE49-F238E27FC236}">
                <a16:creationId xmlns:a16="http://schemas.microsoft.com/office/drawing/2014/main" id="{5B3DED8F-EF09-4E57-8530-5C5DA7B4DC8D}"/>
              </a:ext>
            </a:extLst>
          </p:cNvPr>
          <p:cNvSpPr/>
          <p:nvPr/>
        </p:nvSpPr>
        <p:spPr>
          <a:xfrm rot="5400000">
            <a:off x="3015734" y="305450"/>
            <a:ext cx="2334426" cy="266450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1B4BD332-A7B1-3318-C891-FCC2F2F7D7DA}"/>
              </a:ext>
            </a:extLst>
          </p:cNvPr>
          <p:cNvSpPr/>
          <p:nvPr/>
        </p:nvSpPr>
        <p:spPr>
          <a:xfrm rot="5400000">
            <a:off x="1650143" y="2085920"/>
            <a:ext cx="2298065" cy="2664505"/>
          </a:xfrm>
          <a:prstGeom prst="hexagon">
            <a:avLst/>
          </a:prstGeom>
          <a:solidFill>
            <a:srgbClr val="F9F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Hexagon 25">
            <a:extLst>
              <a:ext uri="{FF2B5EF4-FFF2-40B4-BE49-F238E27FC236}">
                <a16:creationId xmlns:a16="http://schemas.microsoft.com/office/drawing/2014/main" id="{AA7849C2-EB11-EC63-8DE9-F9BEBB22F4CD}"/>
              </a:ext>
            </a:extLst>
          </p:cNvPr>
          <p:cNvSpPr/>
          <p:nvPr/>
        </p:nvSpPr>
        <p:spPr>
          <a:xfrm rot="5400000">
            <a:off x="294290" y="296578"/>
            <a:ext cx="2298064" cy="2664503"/>
          </a:xfrm>
          <a:prstGeom prst="hexagon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2901046" y="3965"/>
            <a:ext cx="6389650" cy="406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sz="2400" b="1" dirty="0">
                <a:solidFill>
                  <a:srgbClr val="0A1344"/>
                </a:solidFill>
                <a:latin typeface="Times New Roman" panose="02020603050405020304" pitchFamily="18" charset="0"/>
                <a:ea typeface="Eastman Grotesque Bold"/>
                <a:cs typeface="Times New Roman" panose="02020603050405020304" pitchFamily="18" charset="0"/>
                <a:sym typeface="Eastman Grotesque Bold"/>
              </a:rPr>
              <a:t>FEASIBILITY</a:t>
            </a:r>
            <a:r>
              <a:rPr lang="en-US" sz="2400" b="1" dirty="0">
                <a:solidFill>
                  <a:srgbClr val="0A1344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 </a:t>
            </a:r>
            <a:r>
              <a:rPr lang="en-US" sz="2400" b="1" dirty="0">
                <a:solidFill>
                  <a:srgbClr val="0A1344"/>
                </a:solidFill>
                <a:latin typeface="Times New Roman" panose="02020603050405020304" pitchFamily="18" charset="0"/>
                <a:ea typeface="Eastman Grotesque Bold"/>
                <a:cs typeface="Times New Roman" panose="02020603050405020304" pitchFamily="18" charset="0"/>
                <a:sym typeface="Eastman Grotesque Bold"/>
              </a:rPr>
              <a:t>AND VIABILITY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2240" y="0"/>
            <a:ext cx="876300" cy="716280"/>
          </a:xfrm>
          <a:custGeom>
            <a:avLst/>
            <a:gdLst/>
            <a:ahLst/>
            <a:cxnLst/>
            <a:rect l="l" t="t" r="r" b="b"/>
            <a:pathLst>
              <a:path w="1095375" h="895350">
                <a:moveTo>
                  <a:pt x="0" y="0"/>
                </a:moveTo>
                <a:lnTo>
                  <a:pt x="1095375" y="0"/>
                </a:lnTo>
                <a:lnTo>
                  <a:pt x="1095375" y="895350"/>
                </a:lnTo>
                <a:lnTo>
                  <a:pt x="0" y="895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1074658" y="126117"/>
            <a:ext cx="975003" cy="463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"/>
              </a:lnSpc>
            </a:pPr>
            <a:r>
              <a:rPr lang="en-US" sz="1189" b="1" dirty="0">
                <a:solidFill>
                  <a:srgbClr val="2F5B6D"/>
                </a:solidFill>
                <a:latin typeface="Eastman Grotesque Bold"/>
                <a:ea typeface="Eastman Grotesque Bold"/>
                <a:cs typeface="Eastman Grotesque Bold"/>
                <a:sym typeface="Eastman Grotesque Bold"/>
              </a:rPr>
              <a:t>SMART INDIA HACKATHON 2026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43414" y="657444"/>
            <a:ext cx="441960" cy="434340"/>
          </a:xfrm>
          <a:custGeom>
            <a:avLst/>
            <a:gdLst/>
            <a:ahLst/>
            <a:cxnLst/>
            <a:rect l="l" t="t" r="r" b="b"/>
            <a:pathLst>
              <a:path w="552450" h="542925">
                <a:moveTo>
                  <a:pt x="0" y="0"/>
                </a:moveTo>
                <a:lnTo>
                  <a:pt x="552450" y="0"/>
                </a:lnTo>
                <a:lnTo>
                  <a:pt x="552450" y="542925"/>
                </a:lnTo>
                <a:lnTo>
                  <a:pt x="0" y="542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5595247" y="716280"/>
            <a:ext cx="216740" cy="6098989"/>
          </a:xfrm>
          <a:custGeom>
            <a:avLst/>
            <a:gdLst/>
            <a:ahLst/>
            <a:cxnLst/>
            <a:rect l="l" t="t" r="r" b="b"/>
            <a:pathLst>
              <a:path w="190500" h="5191125">
                <a:moveTo>
                  <a:pt x="0" y="0"/>
                </a:moveTo>
                <a:lnTo>
                  <a:pt x="190500" y="0"/>
                </a:lnTo>
                <a:lnTo>
                  <a:pt x="190500" y="5191125"/>
                </a:lnTo>
                <a:lnTo>
                  <a:pt x="0" y="5191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102125" y="470488"/>
            <a:ext cx="586740" cy="441053"/>
          </a:xfrm>
          <a:custGeom>
            <a:avLst/>
            <a:gdLst/>
            <a:ahLst/>
            <a:cxnLst/>
            <a:rect l="l" t="t" r="r" b="b"/>
            <a:pathLst>
              <a:path w="733425" h="714375">
                <a:moveTo>
                  <a:pt x="0" y="0"/>
                </a:moveTo>
                <a:lnTo>
                  <a:pt x="733425" y="0"/>
                </a:lnTo>
                <a:lnTo>
                  <a:pt x="733425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8" name="TextBox 18"/>
          <p:cNvSpPr txBox="1"/>
          <p:nvPr/>
        </p:nvSpPr>
        <p:spPr>
          <a:xfrm>
            <a:off x="67852" y="1282025"/>
            <a:ext cx="2567881" cy="1000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4958" lvl="1" indent="-107479" algn="ctr">
              <a:lnSpc>
                <a:spcPts val="1294"/>
              </a:lnSpc>
              <a:buFont typeface="Arial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Uses commercially available sensors such as IMU, temperature, gas, UV/IR.</a:t>
            </a:r>
          </a:p>
          <a:p>
            <a:pPr marL="214958" lvl="1" indent="-107479" algn="ctr">
              <a:lnSpc>
                <a:spcPts val="1294"/>
              </a:lnSpc>
              <a:buFont typeface="Arial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Built on an ESP32-based IoT architecture capable of real-time monitoring and processing.</a:t>
            </a:r>
          </a:p>
        </p:txBody>
      </p:sp>
      <p:sp>
        <p:nvSpPr>
          <p:cNvPr id="20" name="Freeform 20"/>
          <p:cNvSpPr/>
          <p:nvPr/>
        </p:nvSpPr>
        <p:spPr>
          <a:xfrm>
            <a:off x="3921873" y="508789"/>
            <a:ext cx="586740" cy="420455"/>
          </a:xfrm>
          <a:custGeom>
            <a:avLst/>
            <a:gdLst/>
            <a:ahLst/>
            <a:cxnLst/>
            <a:rect l="l" t="t" r="r" b="b"/>
            <a:pathLst>
              <a:path w="733425" h="714375">
                <a:moveTo>
                  <a:pt x="0" y="0"/>
                </a:moveTo>
                <a:lnTo>
                  <a:pt x="733425" y="0"/>
                </a:lnTo>
                <a:lnTo>
                  <a:pt x="733425" y="714375"/>
                </a:lnTo>
                <a:lnTo>
                  <a:pt x="0" y="714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2835018" y="1309084"/>
            <a:ext cx="2592820" cy="10002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4958" lvl="1" indent="-107479" algn="ctr">
              <a:lnSpc>
                <a:spcPts val="1294"/>
              </a:lnSpc>
              <a:buFont typeface="Arial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Functions effectively in electrical and welding workshop environments.</a:t>
            </a:r>
          </a:p>
          <a:p>
            <a:pPr marL="214958" lvl="1" indent="-107479" algn="ctr">
              <a:lnSpc>
                <a:spcPts val="1294"/>
              </a:lnSpc>
              <a:buFont typeface="Arial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Provides instant hazard alerts even in limited-connectivity conditions.</a:t>
            </a:r>
          </a:p>
        </p:txBody>
      </p:sp>
      <p:sp>
        <p:nvSpPr>
          <p:cNvPr id="23" name="Freeform 23"/>
          <p:cNvSpPr/>
          <p:nvPr/>
        </p:nvSpPr>
        <p:spPr>
          <a:xfrm>
            <a:off x="2471793" y="2393229"/>
            <a:ext cx="615536" cy="411686"/>
          </a:xfrm>
          <a:custGeom>
            <a:avLst/>
            <a:gdLst/>
            <a:ahLst/>
            <a:cxnLst/>
            <a:rect l="l" t="t" r="r" b="b"/>
            <a:pathLst>
              <a:path w="923925" h="723900">
                <a:moveTo>
                  <a:pt x="0" y="0"/>
                </a:moveTo>
                <a:lnTo>
                  <a:pt x="923925" y="0"/>
                </a:lnTo>
                <a:lnTo>
                  <a:pt x="923925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4" name="TextBox 24"/>
          <p:cNvSpPr txBox="1"/>
          <p:nvPr/>
        </p:nvSpPr>
        <p:spPr>
          <a:xfrm>
            <a:off x="1443322" y="2733861"/>
            <a:ext cx="2766060" cy="430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ea typeface="Eastman Grotesque Bold"/>
                <a:cs typeface="Times New Roman" panose="02020603050405020304" pitchFamily="18" charset="0"/>
                <a:sym typeface="Eastman Grotesque Bold"/>
              </a:rPr>
              <a:t>IMPLEMENTATION FEASIBILITY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83401" y="3192891"/>
            <a:ext cx="2520593" cy="1000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14958" lvl="1" indent="-107479" algn="ctr">
              <a:lnSpc>
                <a:spcPts val="1294"/>
              </a:lnSpc>
              <a:buFont typeface="Arial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Developed using open-source hardware and software platforms.</a:t>
            </a:r>
          </a:p>
          <a:p>
            <a:pPr marL="214958" lvl="1" indent="-107479" algn="ctr">
              <a:lnSpc>
                <a:spcPts val="1294"/>
              </a:lnSpc>
              <a:buFont typeface="Arial"/>
              <a:buChar char="•"/>
            </a:pPr>
            <a:r>
              <a:rPr lang="en-US" sz="1400" dirty="0"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Easy integration with training centers , ITIs, and industrial workshops.</a:t>
            </a:r>
          </a:p>
        </p:txBody>
      </p:sp>
      <p:sp>
        <p:nvSpPr>
          <p:cNvPr id="53" name="Freeform 53"/>
          <p:cNvSpPr/>
          <p:nvPr/>
        </p:nvSpPr>
        <p:spPr>
          <a:xfrm>
            <a:off x="4930140" y="4998720"/>
            <a:ext cx="441960" cy="289560"/>
          </a:xfrm>
          <a:custGeom>
            <a:avLst/>
            <a:gdLst/>
            <a:ahLst/>
            <a:cxnLst/>
            <a:rect l="l" t="t" r="r" b="b"/>
            <a:pathLst>
              <a:path w="552450" h="361950">
                <a:moveTo>
                  <a:pt x="0" y="0"/>
                </a:moveTo>
                <a:lnTo>
                  <a:pt x="552450" y="0"/>
                </a:lnTo>
                <a:lnTo>
                  <a:pt x="552450" y="361950"/>
                </a:lnTo>
                <a:lnTo>
                  <a:pt x="0" y="361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9" name="TextBox 69"/>
          <p:cNvSpPr txBox="1"/>
          <p:nvPr/>
        </p:nvSpPr>
        <p:spPr>
          <a:xfrm>
            <a:off x="2795067" y="1065521"/>
            <a:ext cx="2840352" cy="138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1"/>
              </a:lnSpc>
            </a:pPr>
            <a:r>
              <a:rPr lang="en-US" sz="1400" b="1" dirty="0">
                <a:latin typeface="Times New Roman" panose="02020603050405020304" pitchFamily="18" charset="0"/>
                <a:ea typeface="Eastman Grotesque Bold"/>
                <a:cs typeface="Times New Roman" panose="02020603050405020304" pitchFamily="18" charset="0"/>
                <a:sym typeface="Eastman Grotesque Bold"/>
              </a:rPr>
              <a:t>OPERATIONAL FEASIBILITY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26893" y="1060647"/>
            <a:ext cx="2481453" cy="138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1"/>
              </a:lnSpc>
            </a:pPr>
            <a:r>
              <a:rPr lang="en-US" sz="1400" b="1" dirty="0">
                <a:latin typeface="Times New Roman" panose="02020603050405020304" pitchFamily="18" charset="0"/>
                <a:ea typeface="Eastman Grotesque Bold"/>
                <a:cs typeface="Times New Roman" panose="02020603050405020304" pitchFamily="18" charset="0"/>
                <a:sym typeface="Eastman Grotesque Bold"/>
              </a:rPr>
              <a:t>TECHNICAL FEASIBILITY</a:t>
            </a:r>
          </a:p>
        </p:txBody>
      </p:sp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03E0E89B-8BE5-4FF4-3211-C1B0CA665C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6973" y="38135"/>
            <a:ext cx="1251857" cy="57150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SoniX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0AE8E9-5ABE-2375-C25D-823ADAB1712A}"/>
              </a:ext>
            </a:extLst>
          </p:cNvPr>
          <p:cNvSpPr txBox="1"/>
          <p:nvPr/>
        </p:nvSpPr>
        <p:spPr>
          <a:xfrm>
            <a:off x="2230071" y="449212"/>
            <a:ext cx="1763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8D0AFD-0209-8A3D-68B8-4527FE620C16}"/>
              </a:ext>
            </a:extLst>
          </p:cNvPr>
          <p:cNvSpPr txBox="1"/>
          <p:nvPr/>
        </p:nvSpPr>
        <p:spPr>
          <a:xfrm>
            <a:off x="8295933" y="299788"/>
            <a:ext cx="17638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44D03AD-B2F4-240C-E3E2-D8F750181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787079"/>
              </p:ext>
            </p:extLst>
          </p:nvPr>
        </p:nvGraphicFramePr>
        <p:xfrm>
          <a:off x="175817" y="4627143"/>
          <a:ext cx="5361616" cy="2076069"/>
        </p:xfrm>
        <a:graphic>
          <a:graphicData uri="http://schemas.openxmlformats.org/drawingml/2006/table">
            <a:tbl>
              <a:tblPr firstRow="1" bandRow="1">
                <a:effectLst/>
                <a:tableStyleId>{00A15C55-8517-42AA-B614-E9B94910E393}</a:tableStyleId>
              </a:tblPr>
              <a:tblGrid>
                <a:gridCol w="1950344">
                  <a:extLst>
                    <a:ext uri="{9D8B030D-6E8A-4147-A177-3AD203B41FA5}">
                      <a16:colId xmlns:a16="http://schemas.microsoft.com/office/drawing/2014/main" val="2236851289"/>
                    </a:ext>
                  </a:extLst>
                </a:gridCol>
                <a:gridCol w="3411272">
                  <a:extLst>
                    <a:ext uri="{9D8B030D-6E8A-4147-A177-3AD203B41FA5}">
                      <a16:colId xmlns:a16="http://schemas.microsoft.com/office/drawing/2014/main" val="3465440284"/>
                    </a:ext>
                  </a:extLst>
                </a:gridCol>
              </a:tblGrid>
              <a:tr h="3461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</a:t>
                      </a:r>
                      <a:r>
                        <a:rPr lang="en-US" dirty="0"/>
                        <a:t>   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SOLUTIONS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526341"/>
                  </a:ext>
                </a:extLst>
              </a:tr>
              <a:tr h="39836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arc detections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Intensity + duration verification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50108"/>
                  </a:ext>
                </a:extLst>
              </a:tr>
              <a:tr h="4585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False fall detection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Acceleration + orientation + confirmation logic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219185"/>
                  </a:ext>
                </a:extLst>
              </a:tr>
              <a:tr h="44122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Gas sensor fluctuations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 + persistence-based detection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12371"/>
                  </a:ext>
                </a:extLst>
              </a:tr>
              <a:tr h="32207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Wi-Fi failure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SD-card event storage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749882"/>
                  </a:ext>
                </a:extLst>
              </a:tr>
            </a:tbl>
          </a:graphicData>
        </a:graphic>
      </p:graphicFrame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117277A2-871D-B1CA-2953-E60743367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316781"/>
              </p:ext>
            </p:extLst>
          </p:nvPr>
        </p:nvGraphicFramePr>
        <p:xfrm>
          <a:off x="5757370" y="4605613"/>
          <a:ext cx="6171984" cy="2121608"/>
        </p:xfrm>
        <a:graphic>
          <a:graphicData uri="http://schemas.openxmlformats.org/drawingml/2006/table">
            <a:tbl>
              <a:tblPr firstRow="1" bandRow="1">
                <a:effectLst/>
                <a:tableStyleId>{00A15C55-8517-42AA-B614-E9B94910E393}</a:tableStyleId>
              </a:tblPr>
              <a:tblGrid>
                <a:gridCol w="2826067">
                  <a:extLst>
                    <a:ext uri="{9D8B030D-6E8A-4147-A177-3AD203B41FA5}">
                      <a16:colId xmlns:a16="http://schemas.microsoft.com/office/drawing/2014/main" val="2236851289"/>
                    </a:ext>
                  </a:extLst>
                </a:gridCol>
                <a:gridCol w="3345917">
                  <a:extLst>
                    <a:ext uri="{9D8B030D-6E8A-4147-A177-3AD203B41FA5}">
                      <a16:colId xmlns:a16="http://schemas.microsoft.com/office/drawing/2014/main" val="3465440284"/>
                    </a:ext>
                  </a:extLst>
                </a:gridCol>
              </a:tblGrid>
              <a:tr h="38583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</a:t>
                      </a:r>
                      <a:r>
                        <a:rPr lang="en-US" dirty="0"/>
                        <a:t>   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SOLUTIONS</a:t>
                      </a:r>
                    </a:p>
                  </a:txBody>
                  <a:tcP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4526341"/>
                  </a:ext>
                </a:extLst>
              </a:tr>
              <a:tr h="38162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loss during connectivity failure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Store-and-forward synchronization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50108"/>
                  </a:ext>
                </a:extLst>
              </a:tr>
              <a:tr h="36792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depletion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Rechargeable battery + battery monitoring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219185"/>
                  </a:ext>
                </a:extLst>
              </a:tr>
              <a:tr h="4576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PPE compatibility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Clip/Velcro detachable module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12371"/>
                  </a:ext>
                </a:extLst>
              </a:tr>
              <a:tr h="50455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Workshop environment</a:t>
                      </a:r>
                    </a:p>
                    <a:p>
                      <a:pPr algn="ctr"/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Protected sensor/electronics enclosure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749882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975E216-2A49-A25F-94E3-87EE1C6732E1}"/>
              </a:ext>
            </a:extLst>
          </p:cNvPr>
          <p:cNvGrpSpPr/>
          <p:nvPr/>
        </p:nvGrpSpPr>
        <p:grpSpPr>
          <a:xfrm>
            <a:off x="5806740" y="636533"/>
            <a:ext cx="6229279" cy="3768887"/>
            <a:chOff x="5710540" y="657444"/>
            <a:chExt cx="6229279" cy="3768887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6959C66-8EAB-FF5A-B7B3-ED95B461C537}"/>
                </a:ext>
              </a:extLst>
            </p:cNvPr>
            <p:cNvGrpSpPr/>
            <p:nvPr/>
          </p:nvGrpSpPr>
          <p:grpSpPr>
            <a:xfrm>
              <a:off x="5710540" y="660386"/>
              <a:ext cx="6229279" cy="3765945"/>
              <a:chOff x="5086555" y="718030"/>
              <a:chExt cx="6719618" cy="3765945"/>
            </a:xfrm>
          </p:grpSpPr>
          <p:grpSp>
            <p:nvGrpSpPr>
              <p:cNvPr id="89" name="object 4">
                <a:extLst>
                  <a:ext uri="{FF2B5EF4-FFF2-40B4-BE49-F238E27FC236}">
                    <a16:creationId xmlns:a16="http://schemas.microsoft.com/office/drawing/2014/main" id="{EB2441CC-55A4-3053-D949-17B64AAD938E}"/>
                  </a:ext>
                </a:extLst>
              </p:cNvPr>
              <p:cNvGrpSpPr/>
              <p:nvPr/>
            </p:nvGrpSpPr>
            <p:grpSpPr>
              <a:xfrm>
                <a:off x="5174183" y="2419277"/>
                <a:ext cx="3928588" cy="2064698"/>
                <a:chOff x="5174183" y="2419277"/>
                <a:chExt cx="3928588" cy="2064698"/>
              </a:xfrm>
            </p:grpSpPr>
            <p:sp>
              <p:nvSpPr>
                <p:cNvPr id="118" name="object 6">
                  <a:extLst>
                    <a:ext uri="{FF2B5EF4-FFF2-40B4-BE49-F238E27FC236}">
                      <a16:creationId xmlns:a16="http://schemas.microsoft.com/office/drawing/2014/main" id="{B881E0B2-FEC1-F9EF-F9A3-647FF881D095}"/>
                    </a:ext>
                  </a:extLst>
                </p:cNvPr>
                <p:cNvSpPr/>
                <p:nvPr/>
              </p:nvSpPr>
              <p:spPr>
                <a:xfrm>
                  <a:off x="5174183" y="3031428"/>
                  <a:ext cx="3117849" cy="14525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94050" h="1619250">
                      <a:moveTo>
                        <a:pt x="3194050" y="0"/>
                      </a:moveTo>
                      <a:lnTo>
                        <a:pt x="0" y="0"/>
                      </a:lnTo>
                      <a:lnTo>
                        <a:pt x="0" y="1619250"/>
                      </a:lnTo>
                      <a:lnTo>
                        <a:pt x="3194050" y="1619250"/>
                      </a:lnTo>
                      <a:lnTo>
                        <a:pt x="3194050" y="0"/>
                      </a:lnTo>
                      <a:close/>
                    </a:path>
                  </a:pathLst>
                </a:custGeom>
                <a:solidFill>
                  <a:schemeClr val="accent4">
                    <a:lumMod val="20000"/>
                    <a:lumOff val="80000"/>
                  </a:schemeClr>
                </a:solidFill>
              </p:spPr>
              <p:txBody>
                <a:bodyPr wrap="square" lIns="0" tIns="0" rIns="0" bIns="0" rtlCol="0"/>
                <a:lstStyle/>
                <a:p>
                  <a:endParaRPr dirty="0"/>
                </a:p>
              </p:txBody>
            </p:sp>
            <p:pic>
              <p:nvPicPr>
                <p:cNvPr id="120" name="object 8">
                  <a:extLst>
                    <a:ext uri="{FF2B5EF4-FFF2-40B4-BE49-F238E27FC236}">
                      <a16:creationId xmlns:a16="http://schemas.microsoft.com/office/drawing/2014/main" id="{C2906892-2B8B-06D5-4847-721B3D869676}"/>
                    </a:ext>
                  </a:extLst>
                </p:cNvPr>
                <p:cNvPicPr/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7829504" y="2419277"/>
                  <a:ext cx="1273267" cy="524055"/>
                </a:xfrm>
                <a:prstGeom prst="rect">
                  <a:avLst/>
                </a:prstGeom>
              </p:spPr>
            </p:pic>
            <p:sp>
              <p:nvSpPr>
                <p:cNvPr id="121" name="object 9">
                  <a:extLst>
                    <a:ext uri="{FF2B5EF4-FFF2-40B4-BE49-F238E27FC236}">
                      <a16:creationId xmlns:a16="http://schemas.microsoft.com/office/drawing/2014/main" id="{B1337A0B-D706-8DF3-6B3A-4E3FECC072A6}"/>
                    </a:ext>
                  </a:extLst>
                </p:cNvPr>
                <p:cNvSpPr/>
                <p:nvPr/>
              </p:nvSpPr>
              <p:spPr>
                <a:xfrm>
                  <a:off x="7867650" y="2438400"/>
                  <a:ext cx="12001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150" h="444500">
                      <a:moveTo>
                        <a:pt x="1200150" y="0"/>
                      </a:moveTo>
                      <a:lnTo>
                        <a:pt x="0" y="0"/>
                      </a:lnTo>
                      <a:lnTo>
                        <a:pt x="0" y="444500"/>
                      </a:lnTo>
                      <a:lnTo>
                        <a:pt x="1200150" y="444500"/>
                      </a:lnTo>
                      <a:lnTo>
                        <a:pt x="1200150" y="0"/>
                      </a:lnTo>
                      <a:close/>
                    </a:path>
                  </a:pathLst>
                </a:custGeom>
                <a:solidFill>
                  <a:srgbClr val="0070C0"/>
                </a:solidFill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122" name="object 10">
                  <a:extLst>
                    <a:ext uri="{FF2B5EF4-FFF2-40B4-BE49-F238E27FC236}">
                      <a16:creationId xmlns:a16="http://schemas.microsoft.com/office/drawing/2014/main" id="{5814843B-18AD-8FCD-04C0-162C6240AD66}"/>
                    </a:ext>
                  </a:extLst>
                </p:cNvPr>
                <p:cNvSpPr/>
                <p:nvPr/>
              </p:nvSpPr>
              <p:spPr>
                <a:xfrm>
                  <a:off x="7867650" y="2438400"/>
                  <a:ext cx="1200150" cy="44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0150" h="444500">
                      <a:moveTo>
                        <a:pt x="0" y="444500"/>
                      </a:moveTo>
                      <a:lnTo>
                        <a:pt x="1200150" y="444500"/>
                      </a:lnTo>
                      <a:lnTo>
                        <a:pt x="1200150" y="0"/>
                      </a:lnTo>
                      <a:lnTo>
                        <a:pt x="0" y="0"/>
                      </a:lnTo>
                      <a:lnTo>
                        <a:pt x="0" y="444500"/>
                      </a:lnTo>
                      <a:close/>
                    </a:path>
                  </a:pathLst>
                </a:custGeom>
                <a:ln w="12700">
                  <a:solidFill>
                    <a:srgbClr val="000000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</p:grpSp>
          <p:sp>
            <p:nvSpPr>
              <p:cNvPr id="112" name="object 35">
                <a:extLst>
                  <a:ext uri="{FF2B5EF4-FFF2-40B4-BE49-F238E27FC236}">
                    <a16:creationId xmlns:a16="http://schemas.microsoft.com/office/drawing/2014/main" id="{968606E6-B07C-6AC0-38B9-A1B2EB59D3D2}"/>
                  </a:ext>
                </a:extLst>
              </p:cNvPr>
              <p:cNvSpPr/>
              <p:nvPr/>
            </p:nvSpPr>
            <p:spPr>
              <a:xfrm>
                <a:off x="8600694" y="3036769"/>
                <a:ext cx="3205479" cy="1431552"/>
              </a:xfrm>
              <a:custGeom>
                <a:avLst/>
                <a:gdLst/>
                <a:ahLst/>
                <a:cxnLst/>
                <a:rect l="l" t="t" r="r" b="b"/>
                <a:pathLst>
                  <a:path w="3378200" h="1625600">
                    <a:moveTo>
                      <a:pt x="3378200" y="0"/>
                    </a:moveTo>
                    <a:lnTo>
                      <a:pt x="0" y="0"/>
                    </a:lnTo>
                    <a:lnTo>
                      <a:pt x="0" y="1625600"/>
                    </a:lnTo>
                    <a:lnTo>
                      <a:pt x="3378200" y="1625600"/>
                    </a:lnTo>
                    <a:lnTo>
                      <a:pt x="3378200" y="0"/>
                    </a:ln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grpSp>
            <p:nvGrpSpPr>
              <p:cNvPr id="92" name="Group 91">
                <a:extLst>
                  <a:ext uri="{FF2B5EF4-FFF2-40B4-BE49-F238E27FC236}">
                    <a16:creationId xmlns:a16="http://schemas.microsoft.com/office/drawing/2014/main" id="{D1CC446B-6558-5347-BAE3-263806F2DCE0}"/>
                  </a:ext>
                </a:extLst>
              </p:cNvPr>
              <p:cNvGrpSpPr/>
              <p:nvPr/>
            </p:nvGrpSpPr>
            <p:grpSpPr>
              <a:xfrm>
                <a:off x="5086555" y="718030"/>
                <a:ext cx="6719618" cy="3587983"/>
                <a:chOff x="5086555" y="717550"/>
                <a:chExt cx="6719618" cy="3499898"/>
              </a:xfrm>
            </p:grpSpPr>
            <p:sp>
              <p:nvSpPr>
                <p:cNvPr id="109" name="object 29">
                  <a:extLst>
                    <a:ext uri="{FF2B5EF4-FFF2-40B4-BE49-F238E27FC236}">
                      <a16:creationId xmlns:a16="http://schemas.microsoft.com/office/drawing/2014/main" id="{E3150D79-168C-F8E0-E636-71D263008A7E}"/>
                    </a:ext>
                  </a:extLst>
                </p:cNvPr>
                <p:cNvSpPr/>
                <p:nvPr/>
              </p:nvSpPr>
              <p:spPr>
                <a:xfrm>
                  <a:off x="8586802" y="717550"/>
                  <a:ext cx="3219371" cy="160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8200" h="1600200">
                      <a:moveTo>
                        <a:pt x="3378200" y="0"/>
                      </a:moveTo>
                      <a:lnTo>
                        <a:pt x="0" y="0"/>
                      </a:lnTo>
                      <a:lnTo>
                        <a:pt x="0" y="1600200"/>
                      </a:lnTo>
                      <a:lnTo>
                        <a:pt x="3378200" y="1600200"/>
                      </a:lnTo>
                      <a:lnTo>
                        <a:pt x="3378200" y="0"/>
                      </a:lnTo>
                      <a:close/>
                    </a:path>
                  </a:pathLst>
                </a:cu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txBody>
                <a:bodyPr wrap="square" lIns="0" tIns="0" rIns="0" bIns="0" rtlCol="0"/>
                <a:lstStyle/>
                <a:p>
                  <a:endParaRPr/>
                </a:p>
              </p:txBody>
            </p:sp>
            <p:sp>
              <p:nvSpPr>
                <p:cNvPr id="95" name="object 32">
                  <a:extLst>
                    <a:ext uri="{FF2B5EF4-FFF2-40B4-BE49-F238E27FC236}">
                      <a16:creationId xmlns:a16="http://schemas.microsoft.com/office/drawing/2014/main" id="{4A8D1DFB-5A09-3DB0-B7D8-2E05A743F567}"/>
                    </a:ext>
                  </a:extLst>
                </p:cNvPr>
                <p:cNvSpPr txBox="1"/>
                <p:nvPr/>
              </p:nvSpPr>
              <p:spPr>
                <a:xfrm>
                  <a:off x="5086555" y="3062919"/>
                  <a:ext cx="3205479" cy="1153348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0541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2000" dirty="0">
                      <a:latin typeface="Segoe UI Symbol"/>
                      <a:cs typeface="Segoe UI Symbol"/>
                    </a:rPr>
                    <a:t>🚀</a:t>
                  </a:r>
                  <a:r>
                    <a:rPr sz="2000" spc="-200" dirty="0">
                      <a:latin typeface="Segoe UI Symbol"/>
                      <a:cs typeface="Segoe UI Symbol"/>
                    </a:rPr>
                    <a:t> </a:t>
                  </a:r>
                  <a:r>
                    <a:rPr sz="1400" b="1" spc="-10" dirty="0">
                      <a:latin typeface="Times New Roman"/>
                      <a:cs typeface="Times New Roman"/>
                    </a:rPr>
                    <a:t>Scalability</a:t>
                  </a:r>
                  <a:endParaRPr sz="1400" dirty="0">
                    <a:latin typeface="Times New Roman"/>
                    <a:cs typeface="Times New Roman"/>
                  </a:endParaRPr>
                </a:p>
                <a:p>
                  <a:pPr marL="232660" lvl="1" indent="-116330">
                    <a:buFont typeface="Arial"/>
                    <a:buChar char="•"/>
                  </a:pPr>
                  <a:r>
                    <a:rPr lang="en-US" sz="1400" dirty="0">
                      <a:solidFill>
                        <a:srgbClr val="010000"/>
                      </a:solidFill>
                      <a:latin typeface="Times New Roman" panose="02020603050405020304" pitchFamily="18" charset="0"/>
                      <a:ea typeface="Lato Bold"/>
                      <a:cs typeface="Times New Roman" panose="02020603050405020304" pitchFamily="18" charset="0"/>
                      <a:sym typeface="Lato Bold"/>
                    </a:rPr>
                    <a:t>Reduction in workplace injuries and accidents.</a:t>
                  </a:r>
                </a:p>
                <a:p>
                  <a:pPr marL="232660" lvl="1" indent="-116330">
                    <a:buFont typeface="Arial"/>
                    <a:buChar char="•"/>
                  </a:pPr>
                  <a:r>
                    <a:rPr lang="en-US" sz="1400" dirty="0">
                      <a:solidFill>
                        <a:srgbClr val="010000"/>
                      </a:solidFill>
                      <a:latin typeface="Times New Roman" panose="02020603050405020304" pitchFamily="18" charset="0"/>
                      <a:ea typeface="Lato Bold"/>
                      <a:cs typeface="Times New Roman" panose="02020603050405020304" pitchFamily="18" charset="0"/>
                      <a:sym typeface="Lato Bold"/>
                    </a:rPr>
                    <a:t>Real-time incident monitoring and near-miss reporting.</a:t>
                  </a:r>
                </a:p>
              </p:txBody>
            </p:sp>
            <p:sp>
              <p:nvSpPr>
                <p:cNvPr id="96" name="object 21">
                  <a:extLst>
                    <a:ext uri="{FF2B5EF4-FFF2-40B4-BE49-F238E27FC236}">
                      <a16:creationId xmlns:a16="http://schemas.microsoft.com/office/drawing/2014/main" id="{BA32EB09-4982-CD02-63D0-40E7A9D79AE6}"/>
                    </a:ext>
                  </a:extLst>
                </p:cNvPr>
                <p:cNvSpPr txBox="1"/>
                <p:nvPr/>
              </p:nvSpPr>
              <p:spPr>
                <a:xfrm>
                  <a:off x="7958469" y="2451716"/>
                  <a:ext cx="1152954" cy="312730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12700">
                    <a:lnSpc>
                      <a:spcPct val="100000"/>
                    </a:lnSpc>
                    <a:spcBef>
                      <a:spcPts val="100"/>
                    </a:spcBef>
                  </a:pPr>
                  <a:r>
                    <a:rPr sz="2000" b="1" spc="-10" dirty="0">
                      <a:solidFill>
                        <a:schemeClr val="bg1"/>
                      </a:solidFill>
                      <a:latin typeface="Times New Roman"/>
                      <a:cs typeface="Times New Roman"/>
                    </a:rPr>
                    <a:t>Viabili</a:t>
                  </a:r>
                  <a:r>
                    <a:rPr lang="en-US" sz="2000" b="1" spc="-10" dirty="0">
                      <a:solidFill>
                        <a:schemeClr val="bg1"/>
                      </a:solidFill>
                      <a:latin typeface="Times New Roman"/>
                      <a:cs typeface="Times New Roman"/>
                    </a:rPr>
                    <a:t>t</a:t>
                  </a:r>
                  <a:r>
                    <a:rPr sz="2000" b="1" spc="-10" dirty="0">
                      <a:solidFill>
                        <a:schemeClr val="bg1"/>
                      </a:solidFill>
                      <a:latin typeface="Times New Roman"/>
                      <a:cs typeface="Times New Roman"/>
                    </a:rPr>
                    <a:t>y</a:t>
                  </a:r>
                  <a:endParaRPr sz="2000" dirty="0">
                    <a:solidFill>
                      <a:schemeClr val="bg1"/>
                    </a:solidFill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97" name="object 31">
                  <a:extLst>
                    <a:ext uri="{FF2B5EF4-FFF2-40B4-BE49-F238E27FC236}">
                      <a16:creationId xmlns:a16="http://schemas.microsoft.com/office/drawing/2014/main" id="{1F1765D3-5D7F-FC21-B20A-0939239B7EBF}"/>
                    </a:ext>
                  </a:extLst>
                </p:cNvPr>
                <p:cNvSpPr txBox="1"/>
                <p:nvPr/>
              </p:nvSpPr>
              <p:spPr>
                <a:xfrm>
                  <a:off x="8634983" y="746193"/>
                  <a:ext cx="3124598" cy="1711696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527050">
                    <a:lnSpc>
                      <a:spcPts val="1910"/>
                    </a:lnSpc>
                    <a:spcBef>
                      <a:spcPts val="100"/>
                    </a:spcBef>
                  </a:pPr>
                  <a:r>
                    <a:rPr sz="1600" dirty="0">
                      <a:latin typeface="Segoe UI Symbol"/>
                      <a:cs typeface="Segoe UI Symbol"/>
                    </a:rPr>
                    <a:t>📈</a:t>
                  </a:r>
                  <a:r>
                    <a:rPr sz="1600" spc="-110" dirty="0">
                      <a:latin typeface="Segoe UI Symbol"/>
                      <a:cs typeface="Segoe UI Symbol"/>
                    </a:rPr>
                    <a:t> </a:t>
                  </a:r>
                  <a:r>
                    <a:rPr sz="1400" b="1" dirty="0">
                      <a:latin typeface="Times New Roman"/>
                      <a:cs typeface="Times New Roman"/>
                    </a:rPr>
                    <a:t>Expected</a:t>
                  </a:r>
                  <a:r>
                    <a:rPr sz="1400" b="1" spc="25" dirty="0">
                      <a:latin typeface="Times New Roman"/>
                      <a:cs typeface="Times New Roman"/>
                    </a:rPr>
                    <a:t> </a:t>
                  </a:r>
                  <a:r>
                    <a:rPr sz="1400" b="1" spc="-10" dirty="0">
                      <a:latin typeface="Times New Roman"/>
                      <a:cs typeface="Times New Roman"/>
                    </a:rPr>
                    <a:t>Outcomes</a:t>
                  </a:r>
                  <a:endParaRPr sz="1400" dirty="0">
                    <a:latin typeface="Times New Roman"/>
                    <a:cs typeface="Times New Roman"/>
                  </a:endParaRPr>
                </a:p>
                <a:p>
                  <a:pPr marL="192198" lvl="1" indent="-96099">
                    <a:buFont typeface="Arial"/>
                    <a:buChar char="•"/>
                  </a:pPr>
                  <a:r>
                    <a:rPr lang="en-US" sz="1400" dirty="0">
                      <a:latin typeface="Times New Roman" panose="02020603050405020304" pitchFamily="18" charset="0"/>
                      <a:ea typeface="Lato Bold"/>
                      <a:cs typeface="Times New Roman" panose="02020603050405020304" pitchFamily="18" charset="0"/>
                      <a:sym typeface="Lato Bold"/>
                    </a:rPr>
                    <a:t>Deployable across ITIs, vocational training </a:t>
                  </a:r>
                  <a:r>
                    <a:rPr lang="en-US" sz="1400" dirty="0" err="1">
                      <a:latin typeface="Times New Roman" panose="02020603050405020304" pitchFamily="18" charset="0"/>
                      <a:ea typeface="Lato Bold"/>
                      <a:cs typeface="Times New Roman" panose="02020603050405020304" pitchFamily="18" charset="0"/>
                      <a:sym typeface="Lato Bold"/>
                    </a:rPr>
                    <a:t>centres</a:t>
                  </a:r>
                  <a:r>
                    <a:rPr lang="en-US" sz="1400" dirty="0">
                      <a:latin typeface="Times New Roman" panose="02020603050405020304" pitchFamily="18" charset="0"/>
                      <a:ea typeface="Lato Bold"/>
                      <a:cs typeface="Times New Roman" panose="02020603050405020304" pitchFamily="18" charset="0"/>
                      <a:sym typeface="Lato Bold"/>
                    </a:rPr>
                    <a:t>, and industrial workshops.</a:t>
                  </a:r>
                </a:p>
                <a:p>
                  <a:pPr marL="192198" lvl="1" indent="-96099">
                    <a:buFont typeface="Arial"/>
                    <a:buChar char="•"/>
                  </a:pPr>
                  <a:r>
                    <a:rPr lang="en-US" sz="1400" dirty="0">
                      <a:latin typeface="Times New Roman" panose="02020603050405020304" pitchFamily="18" charset="0"/>
                      <a:ea typeface="Lato Bold"/>
                      <a:cs typeface="Times New Roman" panose="02020603050405020304" pitchFamily="18" charset="0"/>
                      <a:sym typeface="Lato Bold"/>
                    </a:rPr>
                    <a:t>Adaptable to electrical, wedding, construction, and manufacturing sectors.</a:t>
                  </a:r>
                </a:p>
                <a:p>
                  <a:pPr marL="298450" indent="-285750">
                    <a:lnSpc>
                      <a:spcPts val="1664"/>
                    </a:lnSpc>
                    <a:buFont typeface="Arial MT"/>
                    <a:buChar char="•"/>
                    <a:tabLst>
                      <a:tab pos="298450" algn="l"/>
                    </a:tabLst>
                  </a:pPr>
                  <a:endParaRPr sz="1400" dirty="0"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98" name="object 37">
                  <a:extLst>
                    <a:ext uri="{FF2B5EF4-FFF2-40B4-BE49-F238E27FC236}">
                      <a16:creationId xmlns:a16="http://schemas.microsoft.com/office/drawing/2014/main" id="{C5974E49-3AF7-8ADD-EC96-BD2170B6C9F0}"/>
                    </a:ext>
                  </a:extLst>
                </p:cNvPr>
                <p:cNvSpPr txBox="1"/>
                <p:nvPr/>
              </p:nvSpPr>
              <p:spPr>
                <a:xfrm>
                  <a:off x="8604838" y="3064100"/>
                  <a:ext cx="3097272" cy="1153348"/>
                </a:xfrm>
                <a:prstGeom prst="rect">
                  <a:avLst/>
                </a:prstGeom>
              </p:spPr>
              <p:txBody>
                <a:bodyPr vert="horz" wrap="square" lIns="0" tIns="12700" rIns="0" bIns="0" rtlCol="0">
                  <a:spAutoFit/>
                </a:bodyPr>
                <a:lstStyle/>
                <a:p>
                  <a:pPr marL="584200">
                    <a:spcBef>
                      <a:spcPts val="100"/>
                    </a:spcBef>
                  </a:pPr>
                  <a:r>
                    <a:rPr sz="2000" dirty="0">
                      <a:latin typeface="Segoe UI Symbol"/>
                      <a:cs typeface="Segoe UI Symbol"/>
                    </a:rPr>
                    <a:t>🎯</a:t>
                  </a:r>
                  <a:r>
                    <a:rPr sz="2000" spc="-200" dirty="0">
                      <a:latin typeface="Segoe UI Symbol"/>
                      <a:cs typeface="Segoe UI Symbol"/>
                    </a:rPr>
                    <a:t> </a:t>
                  </a:r>
                  <a:r>
                    <a:rPr sz="1400" b="1" spc="-10" dirty="0">
                      <a:latin typeface="Times New Roman"/>
                      <a:cs typeface="Times New Roman"/>
                    </a:rPr>
                    <a:t>Long-</a:t>
                  </a:r>
                  <a:r>
                    <a:rPr sz="1400" b="1" spc="-55" dirty="0">
                      <a:latin typeface="Times New Roman"/>
                      <a:cs typeface="Times New Roman"/>
                    </a:rPr>
                    <a:t>Term</a:t>
                  </a:r>
                  <a:r>
                    <a:rPr sz="1400" b="1" spc="30" dirty="0">
                      <a:latin typeface="Times New Roman"/>
                      <a:cs typeface="Times New Roman"/>
                    </a:rPr>
                    <a:t> </a:t>
                  </a:r>
                  <a:r>
                    <a:rPr sz="1400" b="1" spc="-10" dirty="0">
                      <a:latin typeface="Times New Roman"/>
                      <a:cs typeface="Times New Roman"/>
                    </a:rPr>
                    <a:t>Viability</a:t>
                  </a:r>
                  <a:endParaRPr sz="1400" dirty="0">
                    <a:latin typeface="Times New Roman"/>
                    <a:cs typeface="Times New Roman"/>
                  </a:endParaRPr>
                </a:p>
                <a:p>
                  <a:pPr marL="207371" lvl="1" indent="-103686">
                    <a:buFont typeface="Arial"/>
                    <a:buChar char="•"/>
                  </a:pPr>
                  <a:r>
                    <a:rPr lang="en-US" sz="1400" dirty="0">
                      <a:solidFill>
                        <a:srgbClr val="010000"/>
                      </a:solidFill>
                      <a:latin typeface="Times New Roman" panose="02020603050405020304" pitchFamily="18" charset="0"/>
                      <a:ea typeface="Lato Bold"/>
                      <a:cs typeface="Times New Roman" panose="02020603050405020304" pitchFamily="18" charset="0"/>
                      <a:sym typeface="Lato Bold"/>
                    </a:rPr>
                    <a:t>Creates a centralized safety incident database for continuous learning.</a:t>
                  </a:r>
                </a:p>
                <a:p>
                  <a:pPr marL="207371" lvl="1" indent="-103686">
                    <a:buFont typeface="Arial"/>
                    <a:buChar char="•"/>
                  </a:pPr>
                  <a:r>
                    <a:rPr lang="en-US" sz="1400" dirty="0">
                      <a:solidFill>
                        <a:srgbClr val="010000"/>
                      </a:solidFill>
                      <a:latin typeface="Times New Roman" panose="02020603050405020304" pitchFamily="18" charset="0"/>
                      <a:ea typeface="Lato Bold"/>
                      <a:cs typeface="Times New Roman" panose="02020603050405020304" pitchFamily="18" charset="0"/>
                      <a:sym typeface="Lato Bold"/>
                    </a:rPr>
                    <a:t>Enables predictive safety monitoring using historical incident patterns</a:t>
                  </a:r>
                  <a:r>
                    <a:rPr lang="en-US" sz="1400" dirty="0">
                      <a:solidFill>
                        <a:srgbClr val="365882"/>
                      </a:solidFill>
                      <a:latin typeface="Lato Bold"/>
                      <a:ea typeface="Lato Bold"/>
                      <a:cs typeface="Lato Bold"/>
                      <a:sym typeface="Lato Bold"/>
                    </a:rPr>
                    <a:t>.</a:t>
                  </a:r>
                </a:p>
              </p:txBody>
            </p:sp>
            <p:grpSp>
              <p:nvGrpSpPr>
                <p:cNvPr id="99" name="object 38">
                  <a:extLst>
                    <a:ext uri="{FF2B5EF4-FFF2-40B4-BE49-F238E27FC236}">
                      <a16:creationId xmlns:a16="http://schemas.microsoft.com/office/drawing/2014/main" id="{CE28149C-0ECB-C3AB-3E2E-AA1E5292A34C}"/>
                    </a:ext>
                  </a:extLst>
                </p:cNvPr>
                <p:cNvGrpSpPr/>
                <p:nvPr/>
              </p:nvGrpSpPr>
              <p:grpSpPr>
                <a:xfrm>
                  <a:off x="6623050" y="2317750"/>
                  <a:ext cx="3651250" cy="664210"/>
                  <a:chOff x="6623050" y="2317750"/>
                  <a:chExt cx="3651250" cy="664210"/>
                </a:xfrm>
              </p:grpSpPr>
              <p:sp>
                <p:nvSpPr>
                  <p:cNvPr id="101" name="object 40">
                    <a:extLst>
                      <a:ext uri="{FF2B5EF4-FFF2-40B4-BE49-F238E27FC236}">
                        <a16:creationId xmlns:a16="http://schemas.microsoft.com/office/drawing/2014/main" id="{728CA22A-0180-182D-1F2C-3DC1256E88BC}"/>
                      </a:ext>
                    </a:extLst>
                  </p:cNvPr>
                  <p:cNvSpPr/>
                  <p:nvPr/>
                </p:nvSpPr>
                <p:spPr>
                  <a:xfrm>
                    <a:off x="9067800" y="2317750"/>
                    <a:ext cx="1205230" cy="3575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05229" h="357505">
                        <a:moveTo>
                          <a:pt x="1154429" y="331597"/>
                        </a:moveTo>
                        <a:lnTo>
                          <a:pt x="0" y="331597"/>
                        </a:lnTo>
                        <a:lnTo>
                          <a:pt x="0" y="356997"/>
                        </a:lnTo>
                        <a:lnTo>
                          <a:pt x="1174115" y="356997"/>
                        </a:lnTo>
                        <a:lnTo>
                          <a:pt x="1179829" y="351282"/>
                        </a:lnTo>
                        <a:lnTo>
                          <a:pt x="1179829" y="344297"/>
                        </a:lnTo>
                        <a:lnTo>
                          <a:pt x="1154429" y="344297"/>
                        </a:lnTo>
                        <a:lnTo>
                          <a:pt x="1154429" y="331597"/>
                        </a:lnTo>
                        <a:close/>
                      </a:path>
                      <a:path w="1205229" h="357505">
                        <a:moveTo>
                          <a:pt x="1179829" y="63500"/>
                        </a:moveTo>
                        <a:lnTo>
                          <a:pt x="1154429" y="63500"/>
                        </a:lnTo>
                        <a:lnTo>
                          <a:pt x="1154429" y="344297"/>
                        </a:lnTo>
                        <a:lnTo>
                          <a:pt x="1167129" y="331597"/>
                        </a:lnTo>
                        <a:lnTo>
                          <a:pt x="1179829" y="331597"/>
                        </a:lnTo>
                        <a:lnTo>
                          <a:pt x="1179829" y="63500"/>
                        </a:lnTo>
                        <a:close/>
                      </a:path>
                      <a:path w="1205229" h="357505">
                        <a:moveTo>
                          <a:pt x="1179829" y="331597"/>
                        </a:moveTo>
                        <a:lnTo>
                          <a:pt x="1167129" y="331597"/>
                        </a:lnTo>
                        <a:lnTo>
                          <a:pt x="1154429" y="344297"/>
                        </a:lnTo>
                        <a:lnTo>
                          <a:pt x="1179829" y="344297"/>
                        </a:lnTo>
                        <a:lnTo>
                          <a:pt x="1179829" y="331597"/>
                        </a:lnTo>
                        <a:close/>
                      </a:path>
                      <a:path w="1205229" h="357505">
                        <a:moveTo>
                          <a:pt x="1167129" y="0"/>
                        </a:moveTo>
                        <a:lnTo>
                          <a:pt x="1129029" y="76200"/>
                        </a:lnTo>
                        <a:lnTo>
                          <a:pt x="1154429" y="76200"/>
                        </a:lnTo>
                        <a:lnTo>
                          <a:pt x="1154429" y="63500"/>
                        </a:lnTo>
                        <a:lnTo>
                          <a:pt x="1198879" y="63500"/>
                        </a:lnTo>
                        <a:lnTo>
                          <a:pt x="1167129" y="0"/>
                        </a:lnTo>
                        <a:close/>
                      </a:path>
                      <a:path w="1205229" h="357505">
                        <a:moveTo>
                          <a:pt x="1198879" y="63500"/>
                        </a:moveTo>
                        <a:lnTo>
                          <a:pt x="1179829" y="63500"/>
                        </a:lnTo>
                        <a:lnTo>
                          <a:pt x="1179829" y="76200"/>
                        </a:lnTo>
                        <a:lnTo>
                          <a:pt x="1205229" y="76200"/>
                        </a:lnTo>
                        <a:lnTo>
                          <a:pt x="1198879" y="63500"/>
                        </a:lnTo>
                        <a:close/>
                      </a:path>
                    </a:pathLst>
                  </a:custGeom>
                  <a:solidFill>
                    <a:srgbClr val="4F81BC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103" name="object 42">
                    <a:extLst>
                      <a:ext uri="{FF2B5EF4-FFF2-40B4-BE49-F238E27FC236}">
                        <a16:creationId xmlns:a16="http://schemas.microsoft.com/office/drawing/2014/main" id="{0F89BED8-34FC-343F-A8CD-E7325ECA62CA}"/>
                      </a:ext>
                    </a:extLst>
                  </p:cNvPr>
                  <p:cNvSpPr/>
                  <p:nvPr/>
                </p:nvSpPr>
                <p:spPr>
                  <a:xfrm>
                    <a:off x="6623050" y="2343150"/>
                    <a:ext cx="1246505" cy="330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46504" h="330200">
                        <a:moveTo>
                          <a:pt x="50800" y="63500"/>
                        </a:moveTo>
                        <a:lnTo>
                          <a:pt x="25400" y="63500"/>
                        </a:lnTo>
                        <a:lnTo>
                          <a:pt x="25400" y="323976"/>
                        </a:lnTo>
                        <a:lnTo>
                          <a:pt x="31115" y="329691"/>
                        </a:lnTo>
                        <a:lnTo>
                          <a:pt x="1245997" y="329691"/>
                        </a:lnTo>
                        <a:lnTo>
                          <a:pt x="1245997" y="316991"/>
                        </a:lnTo>
                        <a:lnTo>
                          <a:pt x="50800" y="316991"/>
                        </a:lnTo>
                        <a:lnTo>
                          <a:pt x="38100" y="304291"/>
                        </a:lnTo>
                        <a:lnTo>
                          <a:pt x="50800" y="304291"/>
                        </a:lnTo>
                        <a:lnTo>
                          <a:pt x="50800" y="63500"/>
                        </a:lnTo>
                        <a:close/>
                      </a:path>
                      <a:path w="1246504" h="330200">
                        <a:moveTo>
                          <a:pt x="50800" y="304291"/>
                        </a:moveTo>
                        <a:lnTo>
                          <a:pt x="38100" y="304291"/>
                        </a:lnTo>
                        <a:lnTo>
                          <a:pt x="50800" y="316991"/>
                        </a:lnTo>
                        <a:lnTo>
                          <a:pt x="50800" y="304291"/>
                        </a:lnTo>
                        <a:close/>
                      </a:path>
                      <a:path w="1246504" h="330200">
                        <a:moveTo>
                          <a:pt x="1245997" y="304291"/>
                        </a:moveTo>
                        <a:lnTo>
                          <a:pt x="50800" y="304291"/>
                        </a:lnTo>
                        <a:lnTo>
                          <a:pt x="50800" y="316991"/>
                        </a:lnTo>
                        <a:lnTo>
                          <a:pt x="1245997" y="316991"/>
                        </a:lnTo>
                        <a:lnTo>
                          <a:pt x="1245997" y="304291"/>
                        </a:lnTo>
                        <a:close/>
                      </a:path>
                      <a:path w="1246504" h="330200">
                        <a:moveTo>
                          <a:pt x="38100" y="0"/>
                        </a:moveTo>
                        <a:lnTo>
                          <a:pt x="0" y="76200"/>
                        </a:lnTo>
                        <a:lnTo>
                          <a:pt x="25400" y="76200"/>
                        </a:lnTo>
                        <a:lnTo>
                          <a:pt x="25400" y="63500"/>
                        </a:lnTo>
                        <a:lnTo>
                          <a:pt x="69850" y="63500"/>
                        </a:lnTo>
                        <a:lnTo>
                          <a:pt x="38100" y="0"/>
                        </a:lnTo>
                        <a:close/>
                      </a:path>
                      <a:path w="1246504" h="330200">
                        <a:moveTo>
                          <a:pt x="69850" y="63500"/>
                        </a:moveTo>
                        <a:lnTo>
                          <a:pt x="50800" y="63500"/>
                        </a:lnTo>
                        <a:lnTo>
                          <a:pt x="50800" y="76200"/>
                        </a:lnTo>
                        <a:lnTo>
                          <a:pt x="76200" y="76200"/>
                        </a:lnTo>
                        <a:lnTo>
                          <a:pt x="69850" y="63500"/>
                        </a:lnTo>
                        <a:close/>
                      </a:path>
                    </a:pathLst>
                  </a:custGeom>
                  <a:solidFill>
                    <a:srgbClr val="4F81BC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105" name="object 44">
                    <a:extLst>
                      <a:ext uri="{FF2B5EF4-FFF2-40B4-BE49-F238E27FC236}">
                        <a16:creationId xmlns:a16="http://schemas.microsoft.com/office/drawing/2014/main" id="{217498B4-FCC3-7A27-7D6D-E96BED8D481A}"/>
                      </a:ext>
                    </a:extLst>
                  </p:cNvPr>
                  <p:cNvSpPr/>
                  <p:nvPr/>
                </p:nvSpPr>
                <p:spPr>
                  <a:xfrm>
                    <a:off x="6623050" y="2490152"/>
                    <a:ext cx="76200" cy="4451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445135">
                        <a:moveTo>
                          <a:pt x="25400" y="368680"/>
                        </a:moveTo>
                        <a:lnTo>
                          <a:pt x="0" y="368680"/>
                        </a:lnTo>
                        <a:lnTo>
                          <a:pt x="38100" y="444880"/>
                        </a:lnTo>
                        <a:lnTo>
                          <a:pt x="69850" y="381380"/>
                        </a:lnTo>
                        <a:lnTo>
                          <a:pt x="25400" y="381380"/>
                        </a:lnTo>
                        <a:lnTo>
                          <a:pt x="25400" y="368680"/>
                        </a:lnTo>
                        <a:close/>
                      </a:path>
                      <a:path w="76200" h="445135">
                        <a:moveTo>
                          <a:pt x="25400" y="226822"/>
                        </a:moveTo>
                        <a:lnTo>
                          <a:pt x="25400" y="381380"/>
                        </a:lnTo>
                        <a:lnTo>
                          <a:pt x="50800" y="381380"/>
                        </a:lnTo>
                        <a:lnTo>
                          <a:pt x="50800" y="235712"/>
                        </a:lnTo>
                        <a:lnTo>
                          <a:pt x="35379" y="235712"/>
                        </a:lnTo>
                        <a:lnTo>
                          <a:pt x="31369" y="233172"/>
                        </a:lnTo>
                        <a:lnTo>
                          <a:pt x="27685" y="230886"/>
                        </a:lnTo>
                        <a:lnTo>
                          <a:pt x="25400" y="226822"/>
                        </a:lnTo>
                        <a:close/>
                      </a:path>
                      <a:path w="76200" h="445135">
                        <a:moveTo>
                          <a:pt x="76200" y="368680"/>
                        </a:moveTo>
                        <a:lnTo>
                          <a:pt x="50800" y="368680"/>
                        </a:lnTo>
                        <a:lnTo>
                          <a:pt x="50800" y="381380"/>
                        </a:lnTo>
                        <a:lnTo>
                          <a:pt x="69850" y="381380"/>
                        </a:lnTo>
                        <a:lnTo>
                          <a:pt x="76200" y="368680"/>
                        </a:lnTo>
                        <a:close/>
                      </a:path>
                      <a:path w="76200" h="445135">
                        <a:moveTo>
                          <a:pt x="25400" y="222376"/>
                        </a:moveTo>
                        <a:lnTo>
                          <a:pt x="25400" y="226822"/>
                        </a:lnTo>
                        <a:lnTo>
                          <a:pt x="27685" y="230886"/>
                        </a:lnTo>
                        <a:lnTo>
                          <a:pt x="31369" y="233172"/>
                        </a:lnTo>
                        <a:lnTo>
                          <a:pt x="35379" y="235712"/>
                        </a:lnTo>
                        <a:lnTo>
                          <a:pt x="39877" y="235712"/>
                        </a:lnTo>
                        <a:lnTo>
                          <a:pt x="43815" y="233807"/>
                        </a:lnTo>
                        <a:lnTo>
                          <a:pt x="25400" y="222376"/>
                        </a:lnTo>
                        <a:close/>
                      </a:path>
                      <a:path w="76200" h="445135">
                        <a:moveTo>
                          <a:pt x="50800" y="0"/>
                        </a:moveTo>
                        <a:lnTo>
                          <a:pt x="25400" y="0"/>
                        </a:lnTo>
                        <a:lnTo>
                          <a:pt x="25400" y="222376"/>
                        </a:lnTo>
                        <a:lnTo>
                          <a:pt x="43815" y="233807"/>
                        </a:lnTo>
                        <a:lnTo>
                          <a:pt x="39877" y="235712"/>
                        </a:lnTo>
                        <a:lnTo>
                          <a:pt x="50800" y="235712"/>
                        </a:lnTo>
                        <a:lnTo>
                          <a:pt x="50800" y="222376"/>
                        </a:lnTo>
                        <a:lnTo>
                          <a:pt x="32384" y="211074"/>
                        </a:lnTo>
                        <a:lnTo>
                          <a:pt x="36322" y="209041"/>
                        </a:lnTo>
                        <a:lnTo>
                          <a:pt x="50800" y="209041"/>
                        </a:lnTo>
                        <a:lnTo>
                          <a:pt x="50800" y="0"/>
                        </a:lnTo>
                        <a:close/>
                      </a:path>
                      <a:path w="76200" h="445135">
                        <a:moveTo>
                          <a:pt x="36322" y="209041"/>
                        </a:moveTo>
                        <a:lnTo>
                          <a:pt x="32384" y="211074"/>
                        </a:lnTo>
                        <a:lnTo>
                          <a:pt x="50800" y="222376"/>
                        </a:lnTo>
                        <a:lnTo>
                          <a:pt x="50800" y="218059"/>
                        </a:lnTo>
                        <a:lnTo>
                          <a:pt x="48514" y="213867"/>
                        </a:lnTo>
                        <a:lnTo>
                          <a:pt x="44830" y="211582"/>
                        </a:lnTo>
                        <a:lnTo>
                          <a:pt x="41021" y="209296"/>
                        </a:lnTo>
                        <a:lnTo>
                          <a:pt x="36322" y="209041"/>
                        </a:lnTo>
                        <a:close/>
                      </a:path>
                      <a:path w="76200" h="445135">
                        <a:moveTo>
                          <a:pt x="50800" y="209041"/>
                        </a:moveTo>
                        <a:lnTo>
                          <a:pt x="36322" y="209041"/>
                        </a:lnTo>
                        <a:lnTo>
                          <a:pt x="41021" y="209296"/>
                        </a:lnTo>
                        <a:lnTo>
                          <a:pt x="44830" y="211582"/>
                        </a:lnTo>
                        <a:lnTo>
                          <a:pt x="48514" y="213867"/>
                        </a:lnTo>
                        <a:lnTo>
                          <a:pt x="50800" y="218059"/>
                        </a:lnTo>
                        <a:lnTo>
                          <a:pt x="50800" y="209041"/>
                        </a:lnTo>
                        <a:close/>
                      </a:path>
                    </a:pathLst>
                  </a:custGeom>
                  <a:solidFill>
                    <a:srgbClr val="4F81BC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  <p:sp>
                <p:nvSpPr>
                  <p:cNvPr id="107" name="object 46">
                    <a:extLst>
                      <a:ext uri="{FF2B5EF4-FFF2-40B4-BE49-F238E27FC236}">
                        <a16:creationId xmlns:a16="http://schemas.microsoft.com/office/drawing/2014/main" id="{A043E915-C547-523C-1006-78A8E52121F6}"/>
                      </a:ext>
                    </a:extLst>
                  </p:cNvPr>
                  <p:cNvSpPr/>
                  <p:nvPr/>
                </p:nvSpPr>
                <p:spPr>
                  <a:xfrm>
                    <a:off x="10198100" y="2647950"/>
                    <a:ext cx="76200" cy="3340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200" h="334010">
                        <a:moveTo>
                          <a:pt x="25400" y="257810"/>
                        </a:moveTo>
                        <a:lnTo>
                          <a:pt x="0" y="257810"/>
                        </a:lnTo>
                        <a:lnTo>
                          <a:pt x="38100" y="334010"/>
                        </a:lnTo>
                        <a:lnTo>
                          <a:pt x="69850" y="270510"/>
                        </a:lnTo>
                        <a:lnTo>
                          <a:pt x="25400" y="270510"/>
                        </a:lnTo>
                        <a:lnTo>
                          <a:pt x="25400" y="257810"/>
                        </a:lnTo>
                        <a:close/>
                      </a:path>
                      <a:path w="76200" h="334010">
                        <a:moveTo>
                          <a:pt x="50800" y="0"/>
                        </a:moveTo>
                        <a:lnTo>
                          <a:pt x="25400" y="0"/>
                        </a:lnTo>
                        <a:lnTo>
                          <a:pt x="25400" y="270510"/>
                        </a:lnTo>
                        <a:lnTo>
                          <a:pt x="50800" y="270510"/>
                        </a:lnTo>
                        <a:lnTo>
                          <a:pt x="50800" y="0"/>
                        </a:lnTo>
                        <a:close/>
                      </a:path>
                      <a:path w="76200" h="334010">
                        <a:moveTo>
                          <a:pt x="76200" y="257810"/>
                        </a:moveTo>
                        <a:lnTo>
                          <a:pt x="50800" y="257810"/>
                        </a:lnTo>
                        <a:lnTo>
                          <a:pt x="50800" y="270510"/>
                        </a:lnTo>
                        <a:lnTo>
                          <a:pt x="69850" y="270510"/>
                        </a:lnTo>
                        <a:lnTo>
                          <a:pt x="76200" y="257810"/>
                        </a:lnTo>
                        <a:close/>
                      </a:path>
                    </a:pathLst>
                  </a:custGeom>
                  <a:solidFill>
                    <a:srgbClr val="4F81BC"/>
                  </a:solidFill>
                </p:spPr>
                <p:txBody>
                  <a:bodyPr wrap="square" lIns="0" tIns="0" rIns="0" bIns="0" rtlCol="0"/>
                  <a:lstStyle/>
                  <a:p>
                    <a:endParaRPr/>
                  </a:p>
                </p:txBody>
              </p:sp>
            </p:grpSp>
          </p:grp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FBC413D-6F98-FA58-7702-51D1A3BA36BE}"/>
                </a:ext>
              </a:extLst>
            </p:cNvPr>
            <p:cNvSpPr/>
            <p:nvPr/>
          </p:nvSpPr>
          <p:spPr>
            <a:xfrm>
              <a:off x="5822609" y="657444"/>
              <a:ext cx="2890336" cy="1623074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635000">
                <a:lnSpc>
                  <a:spcPct val="100000"/>
                </a:lnSpc>
                <a:spcBef>
                  <a:spcPts val="100"/>
                </a:spcBef>
              </a:pPr>
              <a:r>
                <a:rPr lang="en-US" sz="2000" dirty="0">
                  <a:solidFill>
                    <a:schemeClr val="tx1"/>
                  </a:solidFill>
                  <a:latin typeface="Segoe UI Symbol"/>
                  <a:cs typeface="Segoe UI Symbol"/>
                </a:rPr>
                <a:t>💰</a:t>
              </a:r>
              <a:r>
                <a:rPr lang="en-US" sz="2000" spc="-150" dirty="0">
                  <a:solidFill>
                    <a:schemeClr val="tx1"/>
                  </a:solidFill>
                  <a:latin typeface="Segoe UI Symbol"/>
                  <a:cs typeface="Segoe UI Symbol"/>
                </a:rPr>
                <a:t> </a:t>
              </a:r>
              <a:r>
                <a:rPr lang="en-US" sz="1400" b="1" dirty="0">
                  <a:solidFill>
                    <a:schemeClr val="tx1"/>
                  </a:solidFill>
                  <a:latin typeface="Times New Roman"/>
                  <a:cs typeface="Times New Roman"/>
                </a:rPr>
                <a:t>Economic</a:t>
              </a:r>
              <a:r>
                <a:rPr lang="en-US" sz="1400" b="1" spc="-70" dirty="0">
                  <a:solidFill>
                    <a:schemeClr val="tx1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1400" b="1" spc="-10" dirty="0">
                  <a:solidFill>
                    <a:schemeClr val="tx1"/>
                  </a:solidFill>
                  <a:latin typeface="Times New Roman"/>
                  <a:cs typeface="Times New Roman"/>
                </a:rPr>
                <a:t>Viability</a:t>
              </a:r>
              <a:endParaRPr lang="en-US" sz="1400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 marL="214958" lvl="1" indent="-107479">
                <a:buFont typeface="Arial"/>
                <a:buChar char="•"/>
              </a:pPr>
              <a:r>
                <a:rPr lang="en-US" sz="1400" dirty="0">
                  <a:solidFill>
                    <a:srgbClr val="010000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Low-cost prototype using readily available components.</a:t>
              </a:r>
            </a:p>
            <a:p>
              <a:pPr marL="214958" lvl="1" indent="-107479">
                <a:buFont typeface="Arial"/>
                <a:buChar char="•"/>
              </a:pPr>
              <a:r>
                <a:rPr lang="en-US" sz="1400" dirty="0">
                  <a:solidFill>
                    <a:srgbClr val="010000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Minimal maintenance.</a:t>
              </a:r>
            </a:p>
            <a:p>
              <a:pPr marL="214958" lvl="1" indent="-107479">
                <a:buFont typeface="Arial"/>
                <a:buChar char="•"/>
              </a:pPr>
              <a:r>
                <a:rPr lang="en-US" sz="1400" dirty="0">
                  <a:solidFill>
                    <a:srgbClr val="010000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Affordable for large-scale deployment across training </a:t>
              </a:r>
              <a:r>
                <a:rPr lang="en-US" sz="1400" dirty="0" err="1">
                  <a:solidFill>
                    <a:srgbClr val="010000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centres</a:t>
              </a:r>
              <a:r>
                <a:rPr lang="en-US" sz="1400" dirty="0">
                  <a:solidFill>
                    <a:srgbClr val="010000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 and industries</a:t>
              </a:r>
              <a:endParaRPr lang="en-US" sz="1400" dirty="0">
                <a:solidFill>
                  <a:srgbClr val="010000"/>
                </a:solidFill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reeform 104"/>
          <p:cNvSpPr/>
          <p:nvPr/>
        </p:nvSpPr>
        <p:spPr>
          <a:xfrm>
            <a:off x="9522692" y="113979"/>
            <a:ext cx="830714" cy="796100"/>
          </a:xfrm>
          <a:custGeom>
            <a:avLst/>
            <a:gdLst/>
            <a:ahLst/>
            <a:cxnLst/>
            <a:rect l="l" t="t" r="r" b="b"/>
            <a:pathLst>
              <a:path w="1143000" h="1095375">
                <a:moveTo>
                  <a:pt x="0" y="0"/>
                </a:moveTo>
                <a:lnTo>
                  <a:pt x="1143000" y="0"/>
                </a:lnTo>
                <a:lnTo>
                  <a:pt x="1143000" y="1095375"/>
                </a:lnTo>
                <a:lnTo>
                  <a:pt x="0" y="10953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5" name="TextBox 105"/>
          <p:cNvSpPr txBox="1"/>
          <p:nvPr/>
        </p:nvSpPr>
        <p:spPr>
          <a:xfrm>
            <a:off x="10231747" y="238469"/>
            <a:ext cx="1098841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4"/>
              </a:lnSpc>
            </a:pPr>
            <a:r>
              <a:rPr lang="en-US" sz="1267" b="1">
                <a:solidFill>
                  <a:srgbClr val="103054"/>
                </a:solidFill>
                <a:latin typeface="Times New Roman" panose="02020603050405020304" pitchFamily="18" charset="0"/>
                <a:ea typeface="Lato Bold"/>
                <a:cs typeface="Times New Roman" panose="02020603050405020304" pitchFamily="18" charset="0"/>
                <a:sym typeface="Lato Bold"/>
              </a:rPr>
              <a:t>SMART INDIA HACKATHON 2026</a:t>
            </a:r>
          </a:p>
        </p:txBody>
      </p: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B0AFD79-0280-B9BA-4FE8-E118B0B3C6DA}"/>
              </a:ext>
            </a:extLst>
          </p:cNvPr>
          <p:cNvGrpSpPr/>
          <p:nvPr/>
        </p:nvGrpSpPr>
        <p:grpSpPr>
          <a:xfrm>
            <a:off x="0" y="832964"/>
            <a:ext cx="12300248" cy="5919196"/>
            <a:chOff x="749309" y="1150885"/>
            <a:chExt cx="13741382" cy="6957654"/>
          </a:xfrm>
        </p:grpSpPr>
        <p:sp>
          <p:nvSpPr>
            <p:cNvPr id="7" name="Freeform 7"/>
            <p:cNvSpPr/>
            <p:nvPr/>
          </p:nvSpPr>
          <p:spPr>
            <a:xfrm>
              <a:off x="749309" y="1150885"/>
              <a:ext cx="4473737" cy="666301"/>
            </a:xfrm>
            <a:custGeom>
              <a:avLst/>
              <a:gdLst/>
              <a:ahLst/>
              <a:cxnLst/>
              <a:rect l="l" t="t" r="r" b="b"/>
              <a:pathLst>
                <a:path w="4924425" h="733425">
                  <a:moveTo>
                    <a:pt x="0" y="0"/>
                  </a:moveTo>
                  <a:lnTo>
                    <a:pt x="4924425" y="0"/>
                  </a:lnTo>
                  <a:lnTo>
                    <a:pt x="4924425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1086786" y="1315296"/>
              <a:ext cx="527849" cy="501889"/>
            </a:xfrm>
            <a:custGeom>
              <a:avLst/>
              <a:gdLst/>
              <a:ahLst/>
              <a:cxnLst/>
              <a:rect l="l" t="t" r="r" b="b"/>
              <a:pathLst>
                <a:path w="581025" h="552450">
                  <a:moveTo>
                    <a:pt x="0" y="0"/>
                  </a:moveTo>
                  <a:lnTo>
                    <a:pt x="581025" y="0"/>
                  </a:lnTo>
                  <a:lnTo>
                    <a:pt x="581025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5465" y="1463335"/>
              <a:ext cx="2990645" cy="2262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77"/>
                </a:lnSpc>
              </a:pPr>
              <a:r>
                <a:rPr lang="en-US" sz="1120" b="1">
                  <a:solidFill>
                    <a:srgbClr val="103054"/>
                  </a:solidFill>
                  <a:latin typeface="Times New Roman" panose="02020603050405020304" pitchFamily="18" charset="0"/>
                  <a:ea typeface="PT Serif Bold"/>
                  <a:cs typeface="Times New Roman" panose="02020603050405020304" pitchFamily="18" charset="0"/>
                  <a:sym typeface="PT Serif Bold"/>
                </a:rPr>
                <a:t>Impact for Stakeholders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13721" y="1808532"/>
              <a:ext cx="2933456" cy="4465084"/>
            </a:xfrm>
            <a:custGeom>
              <a:avLst/>
              <a:gdLst/>
              <a:ahLst/>
              <a:cxnLst/>
              <a:rect l="l" t="t" r="r" b="b"/>
              <a:pathLst>
                <a:path w="3228975" h="4914900">
                  <a:moveTo>
                    <a:pt x="0" y="0"/>
                  </a:moveTo>
                  <a:lnTo>
                    <a:pt x="3228975" y="0"/>
                  </a:lnTo>
                  <a:lnTo>
                    <a:pt x="3228975" y="4914900"/>
                  </a:lnTo>
                  <a:lnTo>
                    <a:pt x="0" y="4914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86786" y="1808532"/>
              <a:ext cx="700914" cy="830713"/>
            </a:xfrm>
            <a:custGeom>
              <a:avLst/>
              <a:gdLst/>
              <a:ahLst/>
              <a:cxnLst/>
              <a:rect l="l" t="t" r="r" b="b"/>
              <a:pathLst>
                <a:path w="771525" h="914400">
                  <a:moveTo>
                    <a:pt x="0" y="0"/>
                  </a:moveTo>
                  <a:lnTo>
                    <a:pt x="771525" y="0"/>
                  </a:lnTo>
                  <a:lnTo>
                    <a:pt x="771525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086786" y="1972945"/>
              <a:ext cx="527849" cy="666301"/>
            </a:xfrm>
            <a:custGeom>
              <a:avLst/>
              <a:gdLst/>
              <a:ahLst/>
              <a:cxnLst/>
              <a:rect l="l" t="t" r="r" b="b"/>
              <a:pathLst>
                <a:path w="581025" h="733425">
                  <a:moveTo>
                    <a:pt x="0" y="0"/>
                  </a:moveTo>
                  <a:lnTo>
                    <a:pt x="581025" y="0"/>
                  </a:lnTo>
                  <a:lnTo>
                    <a:pt x="581025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84290" y="2174690"/>
              <a:ext cx="1237107" cy="185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30"/>
                </a:lnSpc>
              </a:pPr>
              <a:r>
                <a:rPr lang="en-US" sz="1120" b="1">
                  <a:solidFill>
                    <a:srgbClr val="103054"/>
                  </a:solidFill>
                  <a:latin typeface="Times New Roman" panose="02020603050405020304" pitchFamily="18" charset="0"/>
                  <a:ea typeface="PT Serif Bold"/>
                  <a:cs typeface="Times New Roman" panose="02020603050405020304" pitchFamily="18" charset="0"/>
                  <a:sym typeface="PT Serif Bold"/>
                </a:rPr>
                <a:t>For Trainees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1086786" y="2795004"/>
              <a:ext cx="354784" cy="346131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0" y="0"/>
                  </a:moveTo>
                  <a:lnTo>
                    <a:pt x="390525" y="0"/>
                  </a:lnTo>
                  <a:lnTo>
                    <a:pt x="39052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086786" y="3132482"/>
              <a:ext cx="354784" cy="337477"/>
            </a:xfrm>
            <a:custGeom>
              <a:avLst/>
              <a:gdLst/>
              <a:ahLst/>
              <a:cxnLst/>
              <a:rect l="l" t="t" r="r" b="b"/>
              <a:pathLst>
                <a:path w="390525" h="371475">
                  <a:moveTo>
                    <a:pt x="0" y="0"/>
                  </a:moveTo>
                  <a:lnTo>
                    <a:pt x="390525" y="0"/>
                  </a:lnTo>
                  <a:lnTo>
                    <a:pt x="390525" y="371475"/>
                  </a:lnTo>
                  <a:lnTo>
                    <a:pt x="0" y="371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86786" y="3461306"/>
              <a:ext cx="354784" cy="337477"/>
            </a:xfrm>
            <a:custGeom>
              <a:avLst/>
              <a:gdLst/>
              <a:ahLst/>
              <a:cxnLst/>
              <a:rect l="l" t="t" r="r" b="b"/>
              <a:pathLst>
                <a:path w="390525" h="371475">
                  <a:moveTo>
                    <a:pt x="0" y="0"/>
                  </a:moveTo>
                  <a:lnTo>
                    <a:pt x="390525" y="0"/>
                  </a:lnTo>
                  <a:lnTo>
                    <a:pt x="390525" y="371475"/>
                  </a:lnTo>
                  <a:lnTo>
                    <a:pt x="0" y="371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86786" y="3790130"/>
              <a:ext cx="354784" cy="337477"/>
            </a:xfrm>
            <a:custGeom>
              <a:avLst/>
              <a:gdLst/>
              <a:ahLst/>
              <a:cxnLst/>
              <a:rect l="l" t="t" r="r" b="b"/>
              <a:pathLst>
                <a:path w="390525" h="371475">
                  <a:moveTo>
                    <a:pt x="0" y="0"/>
                  </a:moveTo>
                  <a:lnTo>
                    <a:pt x="390525" y="0"/>
                  </a:lnTo>
                  <a:lnTo>
                    <a:pt x="390525" y="371475"/>
                  </a:lnTo>
                  <a:lnTo>
                    <a:pt x="0" y="371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55025" y="3867582"/>
              <a:ext cx="1957126" cy="402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Hands-on learning with real-time data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913721" y="6100552"/>
              <a:ext cx="2933456" cy="666301"/>
            </a:xfrm>
            <a:custGeom>
              <a:avLst/>
              <a:gdLst/>
              <a:ahLst/>
              <a:cxnLst/>
              <a:rect l="l" t="t" r="r" b="b"/>
              <a:pathLst>
                <a:path w="3228975" h="733425">
                  <a:moveTo>
                    <a:pt x="0" y="0"/>
                  </a:moveTo>
                  <a:lnTo>
                    <a:pt x="3228975" y="0"/>
                  </a:lnTo>
                  <a:lnTo>
                    <a:pt x="3228975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1086786" y="6264963"/>
              <a:ext cx="527849" cy="501889"/>
            </a:xfrm>
            <a:custGeom>
              <a:avLst/>
              <a:gdLst/>
              <a:ahLst/>
              <a:cxnLst/>
              <a:rect l="l" t="t" r="r" b="b"/>
              <a:pathLst>
                <a:path w="581025" h="552450">
                  <a:moveTo>
                    <a:pt x="0" y="0"/>
                  </a:moveTo>
                  <a:lnTo>
                    <a:pt x="581025" y="0"/>
                  </a:lnTo>
                  <a:lnTo>
                    <a:pt x="581025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086786" y="6758200"/>
              <a:ext cx="2241195" cy="1323949"/>
            </a:xfrm>
            <a:custGeom>
              <a:avLst/>
              <a:gdLst/>
              <a:ahLst/>
              <a:cxnLst/>
              <a:rect l="l" t="t" r="r" b="b"/>
              <a:pathLst>
                <a:path w="2466975" h="1457325">
                  <a:moveTo>
                    <a:pt x="0" y="0"/>
                  </a:moveTo>
                  <a:lnTo>
                    <a:pt x="2466975" y="0"/>
                  </a:lnTo>
                  <a:lnTo>
                    <a:pt x="2466975" y="1457325"/>
                  </a:lnTo>
                  <a:lnTo>
                    <a:pt x="0" y="1457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1779047" y="6593787"/>
              <a:ext cx="692261" cy="830713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0"/>
                  </a:lnTo>
                  <a:lnTo>
                    <a:pt x="762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779047" y="6758199"/>
              <a:ext cx="519196" cy="501889"/>
            </a:xfrm>
            <a:custGeom>
              <a:avLst/>
              <a:gdLst/>
              <a:ahLst/>
              <a:cxnLst/>
              <a:rect l="l" t="t" r="r" b="b"/>
              <a:pathLst>
                <a:path w="571500" h="552450">
                  <a:moveTo>
                    <a:pt x="0" y="0"/>
                  </a:moveTo>
                  <a:lnTo>
                    <a:pt x="571500" y="0"/>
                  </a:lnTo>
                  <a:lnTo>
                    <a:pt x="5715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53632" y="7598088"/>
              <a:ext cx="1557478" cy="3403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24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Identify unsafe conditions in real time.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3146263" y="6758200"/>
              <a:ext cx="2414261" cy="1323949"/>
            </a:xfrm>
            <a:custGeom>
              <a:avLst/>
              <a:gdLst/>
              <a:ahLst/>
              <a:cxnLst/>
              <a:rect l="l" t="t" r="r" b="b"/>
              <a:pathLst>
                <a:path w="2657475" h="1457325">
                  <a:moveTo>
                    <a:pt x="0" y="0"/>
                  </a:moveTo>
                  <a:lnTo>
                    <a:pt x="2657475" y="0"/>
                  </a:lnTo>
                  <a:lnTo>
                    <a:pt x="2657475" y="1457325"/>
                  </a:lnTo>
                  <a:lnTo>
                    <a:pt x="0" y="1457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4011589" y="6593787"/>
              <a:ext cx="692261" cy="830713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0"/>
                  </a:lnTo>
                  <a:lnTo>
                    <a:pt x="762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4184654" y="6758199"/>
              <a:ext cx="519196" cy="501889"/>
            </a:xfrm>
            <a:custGeom>
              <a:avLst/>
              <a:gdLst/>
              <a:ahLst/>
              <a:cxnLst/>
              <a:rect l="l" t="t" r="r" b="b"/>
              <a:pathLst>
                <a:path w="571500" h="552450">
                  <a:moveTo>
                    <a:pt x="0" y="0"/>
                  </a:moveTo>
                  <a:lnTo>
                    <a:pt x="571500" y="0"/>
                  </a:lnTo>
                  <a:lnTo>
                    <a:pt x="5715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733403" y="7598088"/>
              <a:ext cx="1311658" cy="5104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24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Instant notifications</a:t>
              </a:r>
            </a:p>
            <a:p>
              <a:pPr algn="ctr">
                <a:lnSpc>
                  <a:spcPts val="1124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 to authorities &amp; staff.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5551870" y="6758200"/>
              <a:ext cx="2414261" cy="1323949"/>
            </a:xfrm>
            <a:custGeom>
              <a:avLst/>
              <a:gdLst/>
              <a:ahLst/>
              <a:cxnLst/>
              <a:rect l="l" t="t" r="r" b="b"/>
              <a:pathLst>
                <a:path w="2657475" h="1457325">
                  <a:moveTo>
                    <a:pt x="0" y="0"/>
                  </a:moveTo>
                  <a:lnTo>
                    <a:pt x="2657475" y="0"/>
                  </a:lnTo>
                  <a:lnTo>
                    <a:pt x="2657475" y="1457325"/>
                  </a:lnTo>
                  <a:lnTo>
                    <a:pt x="0" y="1457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6244131" y="6593787"/>
              <a:ext cx="865326" cy="830713"/>
            </a:xfrm>
            <a:custGeom>
              <a:avLst/>
              <a:gdLst/>
              <a:ahLst/>
              <a:cxnLst/>
              <a:rect l="l" t="t" r="r" b="b"/>
              <a:pathLst>
                <a:path w="952500" h="914400">
                  <a:moveTo>
                    <a:pt x="0" y="0"/>
                  </a:moveTo>
                  <a:lnTo>
                    <a:pt x="952500" y="0"/>
                  </a:lnTo>
                  <a:lnTo>
                    <a:pt x="9525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6417196" y="6758199"/>
              <a:ext cx="519196" cy="501889"/>
            </a:xfrm>
            <a:custGeom>
              <a:avLst/>
              <a:gdLst/>
              <a:ahLst/>
              <a:cxnLst/>
              <a:rect l="l" t="t" r="r" b="b"/>
              <a:pathLst>
                <a:path w="571500" h="552450">
                  <a:moveTo>
                    <a:pt x="0" y="0"/>
                  </a:moveTo>
                  <a:lnTo>
                    <a:pt x="571500" y="0"/>
                  </a:lnTo>
                  <a:lnTo>
                    <a:pt x="5715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70522" y="7640973"/>
              <a:ext cx="1834732" cy="3403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24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Maintain digital records</a:t>
              </a:r>
            </a:p>
            <a:p>
              <a:pPr algn="ctr">
                <a:lnSpc>
                  <a:spcPts val="1124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for analysis &amp; compliance.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7784413" y="6758200"/>
              <a:ext cx="2241195" cy="1323949"/>
            </a:xfrm>
            <a:custGeom>
              <a:avLst/>
              <a:gdLst/>
              <a:ahLst/>
              <a:cxnLst/>
              <a:rect l="l" t="t" r="r" b="b"/>
              <a:pathLst>
                <a:path w="2466975" h="1457325">
                  <a:moveTo>
                    <a:pt x="0" y="0"/>
                  </a:moveTo>
                  <a:lnTo>
                    <a:pt x="2466975" y="0"/>
                  </a:lnTo>
                  <a:lnTo>
                    <a:pt x="2466975" y="1457325"/>
                  </a:lnTo>
                  <a:lnTo>
                    <a:pt x="0" y="1457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8476673" y="6593787"/>
              <a:ext cx="692261" cy="830713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0"/>
                  </a:lnTo>
                  <a:lnTo>
                    <a:pt x="762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8"/>
            <p:cNvSpPr/>
            <p:nvPr/>
          </p:nvSpPr>
          <p:spPr>
            <a:xfrm>
              <a:off x="8649738" y="6758199"/>
              <a:ext cx="346131" cy="501889"/>
            </a:xfrm>
            <a:custGeom>
              <a:avLst/>
              <a:gdLst/>
              <a:ahLst/>
              <a:cxnLst/>
              <a:rect l="l" t="t" r="r" b="b"/>
              <a:pathLst>
                <a:path w="381000" h="552450">
                  <a:moveTo>
                    <a:pt x="0" y="0"/>
                  </a:moveTo>
                  <a:lnTo>
                    <a:pt x="381000" y="0"/>
                  </a:lnTo>
                  <a:lnTo>
                    <a:pt x="381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0252" y="7529036"/>
              <a:ext cx="1419486" cy="51045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124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Find patterns, reduce risks, improve training.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9852542" y="6758200"/>
              <a:ext cx="2405607" cy="1323949"/>
            </a:xfrm>
            <a:custGeom>
              <a:avLst/>
              <a:gdLst/>
              <a:ahLst/>
              <a:cxnLst/>
              <a:rect l="l" t="t" r="r" b="b"/>
              <a:pathLst>
                <a:path w="2647950" h="1457325">
                  <a:moveTo>
                    <a:pt x="0" y="0"/>
                  </a:moveTo>
                  <a:lnTo>
                    <a:pt x="2647950" y="0"/>
                  </a:lnTo>
                  <a:lnTo>
                    <a:pt x="2647950" y="1457325"/>
                  </a:lnTo>
                  <a:lnTo>
                    <a:pt x="0" y="1457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10709215" y="6593787"/>
              <a:ext cx="692261" cy="830713"/>
            </a:xfrm>
            <a:custGeom>
              <a:avLst/>
              <a:gdLst/>
              <a:ahLst/>
              <a:cxnLst/>
              <a:rect l="l" t="t" r="r" b="b"/>
              <a:pathLst>
                <a:path w="762000" h="914400">
                  <a:moveTo>
                    <a:pt x="0" y="0"/>
                  </a:moveTo>
                  <a:lnTo>
                    <a:pt x="762000" y="0"/>
                  </a:lnTo>
                  <a:lnTo>
                    <a:pt x="7620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10709215" y="6758199"/>
              <a:ext cx="519196" cy="501889"/>
            </a:xfrm>
            <a:custGeom>
              <a:avLst/>
              <a:gdLst/>
              <a:ahLst/>
              <a:cxnLst/>
              <a:rect l="l" t="t" r="r" b="b"/>
              <a:pathLst>
                <a:path w="571500" h="552450">
                  <a:moveTo>
                    <a:pt x="0" y="0"/>
                  </a:moveTo>
                  <a:lnTo>
                    <a:pt x="571500" y="0"/>
                  </a:lnTo>
                  <a:lnTo>
                    <a:pt x="5715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53967" y="7527217"/>
              <a:ext cx="1301809" cy="5104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24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Feedback-based personalized learning.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12131388" y="6718396"/>
              <a:ext cx="2068130" cy="1323949"/>
            </a:xfrm>
            <a:custGeom>
              <a:avLst/>
              <a:gdLst/>
              <a:ahLst/>
              <a:cxnLst/>
              <a:rect l="l" t="t" r="r" b="b"/>
              <a:pathLst>
                <a:path w="2276475" h="1457325">
                  <a:moveTo>
                    <a:pt x="0" y="0"/>
                  </a:moveTo>
                  <a:lnTo>
                    <a:pt x="2276475" y="0"/>
                  </a:lnTo>
                  <a:lnTo>
                    <a:pt x="2276475" y="1457325"/>
                  </a:lnTo>
                  <a:lnTo>
                    <a:pt x="0" y="1457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2768692" y="6593787"/>
              <a:ext cx="865326" cy="830713"/>
            </a:xfrm>
            <a:custGeom>
              <a:avLst/>
              <a:gdLst/>
              <a:ahLst/>
              <a:cxnLst/>
              <a:rect l="l" t="t" r="r" b="b"/>
              <a:pathLst>
                <a:path w="952500" h="914400">
                  <a:moveTo>
                    <a:pt x="0" y="0"/>
                  </a:moveTo>
                  <a:lnTo>
                    <a:pt x="952500" y="0"/>
                  </a:lnTo>
                  <a:lnTo>
                    <a:pt x="9525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12941757" y="6758199"/>
              <a:ext cx="519196" cy="501889"/>
            </a:xfrm>
            <a:custGeom>
              <a:avLst/>
              <a:gdLst/>
              <a:ahLst/>
              <a:cxnLst/>
              <a:rect l="l" t="t" r="r" b="b"/>
              <a:pathLst>
                <a:path w="571500" h="552450">
                  <a:moveTo>
                    <a:pt x="0" y="0"/>
                  </a:moveTo>
                  <a:lnTo>
                    <a:pt x="571500" y="0"/>
                  </a:lnTo>
                  <a:lnTo>
                    <a:pt x="5715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2541114" y="7294421"/>
              <a:ext cx="1473555" cy="3112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Reduced Workplace Accidents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602227" y="7600747"/>
              <a:ext cx="1477388" cy="3403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065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Safer people, Stronger </a:t>
              </a:r>
              <a:r>
                <a:rPr lang="en-US" sz="1120" dirty="0" err="1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organisations</a:t>
              </a: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.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3838524" y="1808533"/>
              <a:ext cx="3097868" cy="4300672"/>
            </a:xfrm>
            <a:custGeom>
              <a:avLst/>
              <a:gdLst/>
              <a:ahLst/>
              <a:cxnLst/>
              <a:rect l="l" t="t" r="r" b="b"/>
              <a:pathLst>
                <a:path w="3409950" h="4733925">
                  <a:moveTo>
                    <a:pt x="0" y="0"/>
                  </a:moveTo>
                  <a:lnTo>
                    <a:pt x="3409950" y="0"/>
                  </a:lnTo>
                  <a:lnTo>
                    <a:pt x="3409950" y="4733925"/>
                  </a:lnTo>
                  <a:lnTo>
                    <a:pt x="0" y="4733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4011589" y="1972945"/>
              <a:ext cx="692261" cy="666301"/>
            </a:xfrm>
            <a:custGeom>
              <a:avLst/>
              <a:gdLst/>
              <a:ahLst/>
              <a:cxnLst/>
              <a:rect l="l" t="t" r="r" b="b"/>
              <a:pathLst>
                <a:path w="762000" h="733425">
                  <a:moveTo>
                    <a:pt x="0" y="0"/>
                  </a:moveTo>
                  <a:lnTo>
                    <a:pt x="762000" y="0"/>
                  </a:lnTo>
                  <a:lnTo>
                    <a:pt x="76200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4011589" y="2137356"/>
              <a:ext cx="692261" cy="501889"/>
            </a:xfrm>
            <a:custGeom>
              <a:avLst/>
              <a:gdLst/>
              <a:ahLst/>
              <a:cxnLst/>
              <a:rect l="l" t="t" r="r" b="b"/>
              <a:pathLst>
                <a:path w="762000" h="552450">
                  <a:moveTo>
                    <a:pt x="0" y="0"/>
                  </a:moveTo>
                  <a:lnTo>
                    <a:pt x="762000" y="0"/>
                  </a:lnTo>
                  <a:lnTo>
                    <a:pt x="762000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23338" y="2199811"/>
              <a:ext cx="1215350" cy="185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30"/>
                </a:lnSpc>
              </a:pPr>
              <a:r>
                <a:rPr lang="en-US" sz="1120" b="1">
                  <a:solidFill>
                    <a:srgbClr val="103054"/>
                  </a:solidFill>
                  <a:latin typeface="Times New Roman" panose="02020603050405020304" pitchFamily="18" charset="0"/>
                  <a:ea typeface="PT Serif Bold"/>
                  <a:cs typeface="Times New Roman" panose="02020603050405020304" pitchFamily="18" charset="0"/>
                  <a:sym typeface="PT Serif Bold"/>
                </a:rPr>
                <a:t>For Trainers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4184654" y="2795004"/>
              <a:ext cx="346131" cy="346131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0"/>
                  </a:moveTo>
                  <a:lnTo>
                    <a:pt x="381000" y="0"/>
                  </a:lnTo>
                  <a:lnTo>
                    <a:pt x="3810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16152" y="2762218"/>
              <a:ext cx="1740467" cy="402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Real-time monitoring and performance feedback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4184654" y="3296894"/>
              <a:ext cx="346131" cy="337477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0"/>
                  </a:moveTo>
                  <a:lnTo>
                    <a:pt x="381000" y="0"/>
                  </a:lnTo>
                  <a:lnTo>
                    <a:pt x="381000" y="371475"/>
                  </a:lnTo>
                  <a:lnTo>
                    <a:pt x="0" y="371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4184654" y="3625718"/>
              <a:ext cx="346131" cy="337477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0"/>
                  </a:moveTo>
                  <a:lnTo>
                    <a:pt x="381000" y="0"/>
                  </a:lnTo>
                  <a:lnTo>
                    <a:pt x="381000" y="371475"/>
                  </a:lnTo>
                  <a:lnTo>
                    <a:pt x="0" y="371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19112" y="3641484"/>
              <a:ext cx="1444446" cy="402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Better assessment of</a:t>
              </a:r>
            </a:p>
            <a:p>
              <a:pPr>
                <a:lnSpc>
                  <a:spcPts val="1302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safety drills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4184654" y="4118954"/>
              <a:ext cx="346131" cy="337477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0"/>
                  </a:moveTo>
                  <a:lnTo>
                    <a:pt x="381000" y="0"/>
                  </a:lnTo>
                  <a:lnTo>
                    <a:pt x="381000" y="371475"/>
                  </a:lnTo>
                  <a:lnTo>
                    <a:pt x="0" y="371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19139" y="4169044"/>
              <a:ext cx="1441866" cy="402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Personalized support</a:t>
              </a:r>
            </a:p>
            <a:p>
              <a:pPr>
                <a:lnSpc>
                  <a:spcPts val="1302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and guidance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6925594" y="1799880"/>
              <a:ext cx="2760391" cy="4300672"/>
            </a:xfrm>
            <a:custGeom>
              <a:avLst/>
              <a:gdLst/>
              <a:ahLst/>
              <a:cxnLst/>
              <a:rect l="l" t="t" r="r" b="b"/>
              <a:pathLst>
                <a:path w="3038475" h="4733925">
                  <a:moveTo>
                    <a:pt x="0" y="0"/>
                  </a:moveTo>
                  <a:lnTo>
                    <a:pt x="3038475" y="0"/>
                  </a:lnTo>
                  <a:lnTo>
                    <a:pt x="3038475" y="4733925"/>
                  </a:lnTo>
                  <a:lnTo>
                    <a:pt x="0" y="4733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63"/>
            <p:cNvSpPr/>
            <p:nvPr/>
          </p:nvSpPr>
          <p:spPr>
            <a:xfrm>
              <a:off x="6927739" y="1972945"/>
              <a:ext cx="865326" cy="666301"/>
            </a:xfrm>
            <a:custGeom>
              <a:avLst/>
              <a:gdLst/>
              <a:ahLst/>
              <a:cxnLst/>
              <a:rect l="l" t="t" r="r" b="b"/>
              <a:pathLst>
                <a:path w="952500" h="733425">
                  <a:moveTo>
                    <a:pt x="0" y="0"/>
                  </a:moveTo>
                  <a:lnTo>
                    <a:pt x="952500" y="0"/>
                  </a:lnTo>
                  <a:lnTo>
                    <a:pt x="95250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Freeform 64"/>
            <p:cNvSpPr/>
            <p:nvPr/>
          </p:nvSpPr>
          <p:spPr>
            <a:xfrm>
              <a:off x="7100804" y="1972945"/>
              <a:ext cx="519196" cy="666301"/>
            </a:xfrm>
            <a:custGeom>
              <a:avLst/>
              <a:gdLst/>
              <a:ahLst/>
              <a:cxnLst/>
              <a:rect l="l" t="t" r="r" b="b"/>
              <a:pathLst>
                <a:path w="571500" h="733425">
                  <a:moveTo>
                    <a:pt x="0" y="0"/>
                  </a:moveTo>
                  <a:lnTo>
                    <a:pt x="571500" y="0"/>
                  </a:lnTo>
                  <a:lnTo>
                    <a:pt x="571500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839422" y="2199811"/>
              <a:ext cx="1541714" cy="1856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30"/>
                </a:lnSpc>
              </a:pPr>
              <a:r>
                <a:rPr lang="en-US" sz="1120" b="1">
                  <a:solidFill>
                    <a:srgbClr val="4B403A"/>
                  </a:solidFill>
                  <a:latin typeface="Times New Roman" panose="02020603050405020304" pitchFamily="18" charset="0"/>
                  <a:ea typeface="PT Serif Bold"/>
                  <a:cs typeface="Times New Roman" panose="02020603050405020304" pitchFamily="18" charset="0"/>
                  <a:sym typeface="PT Serif Bold"/>
                </a:rPr>
                <a:t>For Institutions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7100805" y="2795004"/>
              <a:ext cx="354784" cy="346131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0" y="0"/>
                  </a:moveTo>
                  <a:lnTo>
                    <a:pt x="390525" y="0"/>
                  </a:lnTo>
                  <a:lnTo>
                    <a:pt x="390525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77170" y="2787339"/>
              <a:ext cx="1599181" cy="201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Reduced accident rates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7100805" y="3132482"/>
              <a:ext cx="354784" cy="337477"/>
            </a:xfrm>
            <a:custGeom>
              <a:avLst/>
              <a:gdLst/>
              <a:ahLst/>
              <a:cxnLst/>
              <a:rect l="l" t="t" r="r" b="b"/>
              <a:pathLst>
                <a:path w="390525" h="371475">
                  <a:moveTo>
                    <a:pt x="0" y="0"/>
                  </a:moveTo>
                  <a:lnTo>
                    <a:pt x="390525" y="0"/>
                  </a:lnTo>
                  <a:lnTo>
                    <a:pt x="390525" y="371475"/>
                  </a:lnTo>
                  <a:lnTo>
                    <a:pt x="0" y="371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Freeform 69"/>
            <p:cNvSpPr/>
            <p:nvPr/>
          </p:nvSpPr>
          <p:spPr>
            <a:xfrm>
              <a:off x="7100805" y="3461306"/>
              <a:ext cx="354784" cy="337477"/>
            </a:xfrm>
            <a:custGeom>
              <a:avLst/>
              <a:gdLst/>
              <a:ahLst/>
              <a:cxnLst/>
              <a:rect l="l" t="t" r="r" b="b"/>
              <a:pathLst>
                <a:path w="390525" h="371475">
                  <a:moveTo>
                    <a:pt x="0" y="0"/>
                  </a:moveTo>
                  <a:lnTo>
                    <a:pt x="390525" y="0"/>
                  </a:lnTo>
                  <a:lnTo>
                    <a:pt x="390525" y="371475"/>
                  </a:lnTo>
                  <a:lnTo>
                    <a:pt x="0" y="371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573054" y="3499645"/>
              <a:ext cx="2010736" cy="3403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65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Better curriculum planning based on real data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7100805" y="3954542"/>
              <a:ext cx="354784" cy="337477"/>
            </a:xfrm>
            <a:custGeom>
              <a:avLst/>
              <a:gdLst/>
              <a:ahLst/>
              <a:cxnLst/>
              <a:rect l="l" t="t" r="r" b="b"/>
              <a:pathLst>
                <a:path w="390525" h="371475">
                  <a:moveTo>
                    <a:pt x="0" y="0"/>
                  </a:moveTo>
                  <a:lnTo>
                    <a:pt x="390525" y="0"/>
                  </a:lnTo>
                  <a:lnTo>
                    <a:pt x="390525" y="371475"/>
                  </a:lnTo>
                  <a:lnTo>
                    <a:pt x="0" y="371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77325" y="4055996"/>
              <a:ext cx="1583622" cy="4021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Enhanced reputation &amp;</a:t>
              </a:r>
            </a:p>
            <a:p>
              <a:pPr>
                <a:lnSpc>
                  <a:spcPts val="1302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student outcomes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9852542" y="1315296"/>
              <a:ext cx="4638149" cy="5122732"/>
            </a:xfrm>
            <a:custGeom>
              <a:avLst/>
              <a:gdLst/>
              <a:ahLst/>
              <a:cxnLst/>
              <a:rect l="l" t="t" r="r" b="b"/>
              <a:pathLst>
                <a:path w="5105400" h="5638800">
                  <a:moveTo>
                    <a:pt x="0" y="0"/>
                  </a:moveTo>
                  <a:lnTo>
                    <a:pt x="5105400" y="0"/>
                  </a:lnTo>
                  <a:lnTo>
                    <a:pt x="5105400" y="5638800"/>
                  </a:lnTo>
                  <a:lnTo>
                    <a:pt x="0" y="563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Freeform 76"/>
            <p:cNvSpPr/>
            <p:nvPr/>
          </p:nvSpPr>
          <p:spPr>
            <a:xfrm>
              <a:off x="10016955" y="1315296"/>
              <a:ext cx="700914" cy="501889"/>
            </a:xfrm>
            <a:custGeom>
              <a:avLst/>
              <a:gdLst/>
              <a:ahLst/>
              <a:cxnLst/>
              <a:rect l="l" t="t" r="r" b="b"/>
              <a:pathLst>
                <a:path w="771525" h="552450">
                  <a:moveTo>
                    <a:pt x="0" y="0"/>
                  </a:moveTo>
                  <a:lnTo>
                    <a:pt x="771525" y="0"/>
                  </a:lnTo>
                  <a:lnTo>
                    <a:pt x="771525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817706" y="1463335"/>
              <a:ext cx="1622089" cy="2262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577"/>
                </a:lnSpc>
              </a:pPr>
              <a:r>
                <a:rPr lang="en-US" sz="1120" b="1">
                  <a:solidFill>
                    <a:srgbClr val="103054"/>
                  </a:solidFill>
                  <a:latin typeface="Times New Roman" panose="02020603050405020304" pitchFamily="18" charset="0"/>
                  <a:ea typeface="PT Serif Bold"/>
                  <a:cs typeface="Times New Roman" panose="02020603050405020304" pitchFamily="18" charset="0"/>
                  <a:sym typeface="PT Serif Bold"/>
                </a:rPr>
                <a:t>Future Scope</a:t>
              </a:r>
            </a:p>
          </p:txBody>
        </p:sp>
        <p:sp>
          <p:nvSpPr>
            <p:cNvPr id="78" name="Freeform 78"/>
            <p:cNvSpPr/>
            <p:nvPr/>
          </p:nvSpPr>
          <p:spPr>
            <a:xfrm>
              <a:off x="10016954" y="1808533"/>
              <a:ext cx="4136260" cy="995125"/>
            </a:xfrm>
            <a:custGeom>
              <a:avLst/>
              <a:gdLst/>
              <a:ahLst/>
              <a:cxnLst/>
              <a:rect l="l" t="t" r="r" b="b"/>
              <a:pathLst>
                <a:path w="4552950" h="1095375">
                  <a:moveTo>
                    <a:pt x="0" y="0"/>
                  </a:moveTo>
                  <a:lnTo>
                    <a:pt x="4552950" y="0"/>
                  </a:lnTo>
                  <a:lnTo>
                    <a:pt x="4552950" y="1095375"/>
                  </a:lnTo>
                  <a:lnTo>
                    <a:pt x="0" y="1095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Freeform 79"/>
            <p:cNvSpPr/>
            <p:nvPr/>
          </p:nvSpPr>
          <p:spPr>
            <a:xfrm>
              <a:off x="10016954" y="1972944"/>
              <a:ext cx="873980" cy="830713"/>
            </a:xfrm>
            <a:custGeom>
              <a:avLst/>
              <a:gdLst/>
              <a:ahLst/>
              <a:cxnLst/>
              <a:rect l="l" t="t" r="r" b="b"/>
              <a:pathLst>
                <a:path w="962025" h="914400">
                  <a:moveTo>
                    <a:pt x="0" y="0"/>
                  </a:moveTo>
                  <a:lnTo>
                    <a:pt x="962025" y="0"/>
                  </a:lnTo>
                  <a:lnTo>
                    <a:pt x="962025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Freeform 80"/>
            <p:cNvSpPr/>
            <p:nvPr/>
          </p:nvSpPr>
          <p:spPr>
            <a:xfrm>
              <a:off x="10190020" y="1972945"/>
              <a:ext cx="527849" cy="666301"/>
            </a:xfrm>
            <a:custGeom>
              <a:avLst/>
              <a:gdLst/>
              <a:ahLst/>
              <a:cxnLst/>
              <a:rect l="l" t="t" r="r" b="b"/>
              <a:pathLst>
                <a:path w="581025" h="733425">
                  <a:moveTo>
                    <a:pt x="0" y="0"/>
                  </a:moveTo>
                  <a:lnTo>
                    <a:pt x="581025" y="0"/>
                  </a:lnTo>
                  <a:lnTo>
                    <a:pt x="581025" y="733425"/>
                  </a:lnTo>
                  <a:lnTo>
                    <a:pt x="0" y="733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009330" y="2209439"/>
              <a:ext cx="2588707" cy="3403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24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Use data &amp; machine learning to predict and prevent accidents.</a:t>
              </a:r>
            </a:p>
          </p:txBody>
        </p:sp>
        <p:sp>
          <p:nvSpPr>
            <p:cNvPr id="82" name="Freeform 82"/>
            <p:cNvSpPr/>
            <p:nvPr/>
          </p:nvSpPr>
          <p:spPr>
            <a:xfrm>
              <a:off x="10016954" y="2630592"/>
              <a:ext cx="4136260" cy="839367"/>
            </a:xfrm>
            <a:custGeom>
              <a:avLst/>
              <a:gdLst/>
              <a:ahLst/>
              <a:cxnLst/>
              <a:rect l="l" t="t" r="r" b="b"/>
              <a:pathLst>
                <a:path w="4552950" h="923925">
                  <a:moveTo>
                    <a:pt x="0" y="0"/>
                  </a:moveTo>
                  <a:lnTo>
                    <a:pt x="4552950" y="0"/>
                  </a:lnTo>
                  <a:lnTo>
                    <a:pt x="4552950" y="923925"/>
                  </a:lnTo>
                  <a:lnTo>
                    <a:pt x="0" y="923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3" name="Freeform 83"/>
            <p:cNvSpPr/>
            <p:nvPr/>
          </p:nvSpPr>
          <p:spPr>
            <a:xfrm>
              <a:off x="10016954" y="2795004"/>
              <a:ext cx="873980" cy="674955"/>
            </a:xfrm>
            <a:custGeom>
              <a:avLst/>
              <a:gdLst/>
              <a:ahLst/>
              <a:cxnLst/>
              <a:rect l="l" t="t" r="r" b="b"/>
              <a:pathLst>
                <a:path w="962025" h="742950">
                  <a:moveTo>
                    <a:pt x="0" y="0"/>
                  </a:moveTo>
                  <a:lnTo>
                    <a:pt x="962025" y="0"/>
                  </a:lnTo>
                  <a:lnTo>
                    <a:pt x="962025" y="742950"/>
                  </a:lnTo>
                  <a:lnTo>
                    <a:pt x="0" y="742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4" name="Freeform 84"/>
            <p:cNvSpPr/>
            <p:nvPr/>
          </p:nvSpPr>
          <p:spPr>
            <a:xfrm>
              <a:off x="10190020" y="2795004"/>
              <a:ext cx="527849" cy="510543"/>
            </a:xfrm>
            <a:custGeom>
              <a:avLst/>
              <a:gdLst/>
              <a:ahLst/>
              <a:cxnLst/>
              <a:rect l="l" t="t" r="r" b="b"/>
              <a:pathLst>
                <a:path w="581025" h="561975">
                  <a:moveTo>
                    <a:pt x="0" y="0"/>
                  </a:moveTo>
                  <a:lnTo>
                    <a:pt x="581025" y="0"/>
                  </a:lnTo>
                  <a:lnTo>
                    <a:pt x="581025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15405" y="3034842"/>
              <a:ext cx="2370905" cy="3403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065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Detect helmet, vest and safety gear in real-time using AI &amp; cameras.</a:t>
              </a:r>
            </a:p>
          </p:txBody>
        </p:sp>
        <p:sp>
          <p:nvSpPr>
            <p:cNvPr id="86" name="Freeform 86"/>
            <p:cNvSpPr/>
            <p:nvPr/>
          </p:nvSpPr>
          <p:spPr>
            <a:xfrm>
              <a:off x="10016954" y="3461306"/>
              <a:ext cx="4136260" cy="830713"/>
            </a:xfrm>
            <a:custGeom>
              <a:avLst/>
              <a:gdLst/>
              <a:ahLst/>
              <a:cxnLst/>
              <a:rect l="l" t="t" r="r" b="b"/>
              <a:pathLst>
                <a:path w="4552950" h="914400">
                  <a:moveTo>
                    <a:pt x="0" y="0"/>
                  </a:moveTo>
                  <a:lnTo>
                    <a:pt x="4552950" y="0"/>
                  </a:lnTo>
                  <a:lnTo>
                    <a:pt x="455295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4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Freeform 87"/>
            <p:cNvSpPr/>
            <p:nvPr/>
          </p:nvSpPr>
          <p:spPr>
            <a:xfrm>
              <a:off x="10016954" y="3461306"/>
              <a:ext cx="873980" cy="830713"/>
            </a:xfrm>
            <a:custGeom>
              <a:avLst/>
              <a:gdLst/>
              <a:ahLst/>
              <a:cxnLst/>
              <a:rect l="l" t="t" r="r" b="b"/>
              <a:pathLst>
                <a:path w="962025" h="914400">
                  <a:moveTo>
                    <a:pt x="0" y="0"/>
                  </a:moveTo>
                  <a:lnTo>
                    <a:pt x="962025" y="0"/>
                  </a:lnTo>
                  <a:lnTo>
                    <a:pt x="962025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Freeform 88"/>
            <p:cNvSpPr/>
            <p:nvPr/>
          </p:nvSpPr>
          <p:spPr>
            <a:xfrm>
              <a:off x="10190020" y="3625718"/>
              <a:ext cx="527849" cy="501889"/>
            </a:xfrm>
            <a:custGeom>
              <a:avLst/>
              <a:gdLst/>
              <a:ahLst/>
              <a:cxnLst/>
              <a:rect l="l" t="t" r="r" b="b"/>
              <a:pathLst>
                <a:path w="581025" h="552450">
                  <a:moveTo>
                    <a:pt x="0" y="0"/>
                  </a:moveTo>
                  <a:lnTo>
                    <a:pt x="581025" y="0"/>
                  </a:lnTo>
                  <a:lnTo>
                    <a:pt x="581025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6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015419" y="3838743"/>
              <a:ext cx="1979857" cy="3403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65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Centralized dashboard for real-time alerts and insights.</a:t>
              </a:r>
            </a:p>
          </p:txBody>
        </p:sp>
        <p:sp>
          <p:nvSpPr>
            <p:cNvPr id="90" name="Freeform 90"/>
            <p:cNvSpPr/>
            <p:nvPr/>
          </p:nvSpPr>
          <p:spPr>
            <a:xfrm>
              <a:off x="10016954" y="4283366"/>
              <a:ext cx="4136260" cy="830713"/>
            </a:xfrm>
            <a:custGeom>
              <a:avLst/>
              <a:gdLst/>
              <a:ahLst/>
              <a:cxnLst/>
              <a:rect l="l" t="t" r="r" b="b"/>
              <a:pathLst>
                <a:path w="4552950" h="914400">
                  <a:moveTo>
                    <a:pt x="0" y="0"/>
                  </a:moveTo>
                  <a:lnTo>
                    <a:pt x="4552950" y="0"/>
                  </a:lnTo>
                  <a:lnTo>
                    <a:pt x="455295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7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Freeform 91"/>
            <p:cNvSpPr/>
            <p:nvPr/>
          </p:nvSpPr>
          <p:spPr>
            <a:xfrm>
              <a:off x="10016954" y="4283366"/>
              <a:ext cx="873980" cy="830713"/>
            </a:xfrm>
            <a:custGeom>
              <a:avLst/>
              <a:gdLst/>
              <a:ahLst/>
              <a:cxnLst/>
              <a:rect l="l" t="t" r="r" b="b"/>
              <a:pathLst>
                <a:path w="962025" h="914400">
                  <a:moveTo>
                    <a:pt x="0" y="0"/>
                  </a:moveTo>
                  <a:lnTo>
                    <a:pt x="962025" y="0"/>
                  </a:lnTo>
                  <a:lnTo>
                    <a:pt x="962025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8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Freeform 92"/>
            <p:cNvSpPr/>
            <p:nvPr/>
          </p:nvSpPr>
          <p:spPr>
            <a:xfrm>
              <a:off x="10190020" y="4447778"/>
              <a:ext cx="527849" cy="501889"/>
            </a:xfrm>
            <a:custGeom>
              <a:avLst/>
              <a:gdLst/>
              <a:ahLst/>
              <a:cxnLst/>
              <a:rect l="l" t="t" r="r" b="b"/>
              <a:pathLst>
                <a:path w="581025" h="552450">
                  <a:moveTo>
                    <a:pt x="0" y="0"/>
                  </a:moveTo>
                  <a:lnTo>
                    <a:pt x="581025" y="0"/>
                  </a:lnTo>
                  <a:lnTo>
                    <a:pt x="581025" y="552450"/>
                  </a:lnTo>
                  <a:lnTo>
                    <a:pt x="0" y="552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9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020352" y="4430523"/>
              <a:ext cx="1737598" cy="156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Industrial Deployment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011136" y="4621143"/>
              <a:ext cx="2715131" cy="3403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1124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Scale across industries like construction, manufacturing, mining, etc.</a:t>
              </a:r>
            </a:p>
          </p:txBody>
        </p:sp>
        <p:sp>
          <p:nvSpPr>
            <p:cNvPr id="95" name="Freeform 95"/>
            <p:cNvSpPr/>
            <p:nvPr/>
          </p:nvSpPr>
          <p:spPr>
            <a:xfrm>
              <a:off x="10016954" y="5105426"/>
              <a:ext cx="4136260" cy="839367"/>
            </a:xfrm>
            <a:custGeom>
              <a:avLst/>
              <a:gdLst/>
              <a:ahLst/>
              <a:cxnLst/>
              <a:rect l="l" t="t" r="r" b="b"/>
              <a:pathLst>
                <a:path w="4552950" h="923925">
                  <a:moveTo>
                    <a:pt x="0" y="0"/>
                  </a:moveTo>
                  <a:lnTo>
                    <a:pt x="4552950" y="0"/>
                  </a:lnTo>
                  <a:lnTo>
                    <a:pt x="4552950" y="923925"/>
                  </a:lnTo>
                  <a:lnTo>
                    <a:pt x="0" y="923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0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Freeform 96"/>
            <p:cNvSpPr/>
            <p:nvPr/>
          </p:nvSpPr>
          <p:spPr>
            <a:xfrm>
              <a:off x="10016954" y="5105426"/>
              <a:ext cx="873980" cy="839367"/>
            </a:xfrm>
            <a:custGeom>
              <a:avLst/>
              <a:gdLst/>
              <a:ahLst/>
              <a:cxnLst/>
              <a:rect l="l" t="t" r="r" b="b"/>
              <a:pathLst>
                <a:path w="962025" h="923925">
                  <a:moveTo>
                    <a:pt x="0" y="0"/>
                  </a:moveTo>
                  <a:lnTo>
                    <a:pt x="962025" y="0"/>
                  </a:lnTo>
                  <a:lnTo>
                    <a:pt x="962025" y="923925"/>
                  </a:lnTo>
                  <a:lnTo>
                    <a:pt x="0" y="923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1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Freeform 97"/>
            <p:cNvSpPr/>
            <p:nvPr/>
          </p:nvSpPr>
          <p:spPr>
            <a:xfrm>
              <a:off x="10190020" y="5269838"/>
              <a:ext cx="527849" cy="510543"/>
            </a:xfrm>
            <a:custGeom>
              <a:avLst/>
              <a:gdLst/>
              <a:ahLst/>
              <a:cxnLst/>
              <a:rect l="l" t="t" r="r" b="b"/>
              <a:pathLst>
                <a:path w="581025" h="561975">
                  <a:moveTo>
                    <a:pt x="0" y="0"/>
                  </a:moveTo>
                  <a:lnTo>
                    <a:pt x="581025" y="0"/>
                  </a:lnTo>
                  <a:lnTo>
                    <a:pt x="581025" y="561975"/>
                  </a:lnTo>
                  <a:lnTo>
                    <a:pt x="0" y="5619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012823" y="5272106"/>
              <a:ext cx="2513122" cy="156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Smart Training Centre Integration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012316" y="5484228"/>
              <a:ext cx="2290042" cy="3403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65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Combine with LMS for digital + hands-on safety training.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597225" y="6378492"/>
              <a:ext cx="1763000" cy="203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413"/>
                </a:lnSpc>
              </a:pPr>
              <a:r>
                <a:rPr lang="en-US" sz="1120" b="1">
                  <a:solidFill>
                    <a:srgbClr val="103054"/>
                  </a:solidFill>
                  <a:latin typeface="Times New Roman" panose="02020603050405020304" pitchFamily="18" charset="0"/>
                  <a:ea typeface="PT Serif Bold"/>
                  <a:cs typeface="Times New Roman" panose="02020603050405020304" pitchFamily="18" charset="0"/>
                  <a:sym typeface="PT Serif Bold"/>
                </a:rPr>
                <a:t>Impact Pipeline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071540" y="2762218"/>
              <a:ext cx="2373219" cy="3112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Computer Vision PPE Monitoring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016137" y="2018819"/>
              <a:ext cx="2160720" cy="156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AI-based accident prediction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015617" y="3651744"/>
              <a:ext cx="2091422" cy="156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Cloud-Based Safety Analytics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557182" y="3139045"/>
              <a:ext cx="1741406" cy="201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Improved personal safety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4516018" y="3289777"/>
              <a:ext cx="1753837" cy="201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Incident review capability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558018" y="3503313"/>
              <a:ext cx="1657822" cy="201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Better safety awareness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7578556" y="3139045"/>
              <a:ext cx="1460554" cy="201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Digital safety records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559608" y="2799900"/>
              <a:ext cx="1498943" cy="2010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302"/>
                </a:lnSpc>
              </a:pPr>
              <a:r>
                <a:rPr lang="en-US" sz="1120" dirty="0">
                  <a:solidFill>
                    <a:srgbClr val="506580"/>
                  </a:solidFill>
                  <a:latin typeface="Times New Roman" panose="02020603050405020304" pitchFamily="18" charset="0"/>
                  <a:ea typeface="Lato"/>
                  <a:cs typeface="Times New Roman" panose="02020603050405020304" pitchFamily="18" charset="0"/>
                  <a:sym typeface="Lato"/>
                </a:rPr>
                <a:t>Early hazard warnings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10376290" y="7346856"/>
              <a:ext cx="1600964" cy="31129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Training Improvement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327206" y="7382347"/>
              <a:ext cx="1206429" cy="156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Safety Analytics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6132860" y="7382347"/>
              <a:ext cx="1376062" cy="156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Incident Logging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542703" y="7382347"/>
              <a:ext cx="1428071" cy="156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Hazard Detection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3878978" y="7382347"/>
              <a:ext cx="1256143" cy="1566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987"/>
                </a:lnSpc>
              </a:pPr>
              <a:r>
                <a:rPr lang="en-US" sz="1120" b="1" dirty="0">
                  <a:solidFill>
                    <a:srgbClr val="103054"/>
                  </a:solidFill>
                  <a:latin typeface="Times New Roman" panose="02020603050405020304" pitchFamily="18" charset="0"/>
                  <a:ea typeface="Lato Bold"/>
                  <a:cs typeface="Times New Roman" panose="02020603050405020304" pitchFamily="18" charset="0"/>
                  <a:sym typeface="Lato Bold"/>
                </a:rPr>
                <a:t>Real-Time Alert</a:t>
              </a:r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45F55684-D099-3B70-6748-0FCC4AE54300}"/>
              </a:ext>
            </a:extLst>
          </p:cNvPr>
          <p:cNvSpPr/>
          <p:nvPr/>
        </p:nvSpPr>
        <p:spPr>
          <a:xfrm>
            <a:off x="201056" y="105840"/>
            <a:ext cx="1036320" cy="587088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78948" y="330302"/>
            <a:ext cx="722366" cy="1791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15"/>
              </a:lnSpc>
            </a:pPr>
            <a:r>
              <a:rPr lang="en-US" dirty="0">
                <a:solidFill>
                  <a:srgbClr val="103054"/>
                </a:solidFill>
                <a:latin typeface="Times New Roman" panose="02020603050405020304" pitchFamily="18" charset="0"/>
                <a:ea typeface="PT Serif Bold"/>
                <a:cs typeface="Times New Roman" panose="02020603050405020304" pitchFamily="18" charset="0"/>
                <a:sym typeface="PT Serif Bold"/>
              </a:rPr>
              <a:t>SoniX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F0BDC47-92F5-7970-64FF-CE137A41C147}"/>
              </a:ext>
            </a:extLst>
          </p:cNvPr>
          <p:cNvSpPr txBox="1"/>
          <p:nvPr/>
        </p:nvSpPr>
        <p:spPr>
          <a:xfrm>
            <a:off x="2760076" y="111011"/>
            <a:ext cx="6094582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688" b="1" spc="-54" dirty="0">
                <a:solidFill>
                  <a:srgbClr val="0C2D5F"/>
                </a:solidFill>
                <a:latin typeface="Times New Roman" panose="02020603050405020304" pitchFamily="18" charset="0"/>
                <a:ea typeface="Ubuntu Bold"/>
                <a:cs typeface="Times New Roman" panose="02020603050405020304" pitchFamily="18" charset="0"/>
                <a:sym typeface="Ubuntu Bold"/>
              </a:rPr>
              <a:t>IMPACT AND BENEFITS </a:t>
            </a:r>
          </a:p>
        </p:txBody>
      </p:sp>
      <p:sp>
        <p:nvSpPr>
          <p:cNvPr id="128" name="Freeform 22">
            <a:extLst>
              <a:ext uri="{FF2B5EF4-FFF2-40B4-BE49-F238E27FC236}">
                <a16:creationId xmlns:a16="http://schemas.microsoft.com/office/drawing/2014/main" id="{5E40012D-78FA-304C-C156-EC869424BEA4}"/>
              </a:ext>
            </a:extLst>
          </p:cNvPr>
          <p:cNvSpPr/>
          <p:nvPr/>
        </p:nvSpPr>
        <p:spPr>
          <a:xfrm>
            <a:off x="975360" y="3977641"/>
            <a:ext cx="924662" cy="875362"/>
          </a:xfrm>
          <a:custGeom>
            <a:avLst/>
            <a:gdLst/>
            <a:ahLst/>
            <a:cxnLst/>
            <a:rect l="l" t="t" r="r" b="b"/>
            <a:pathLst>
              <a:path w="1524000" h="1323975">
                <a:moveTo>
                  <a:pt x="0" y="0"/>
                </a:moveTo>
                <a:lnTo>
                  <a:pt x="1524000" y="0"/>
                </a:lnTo>
                <a:lnTo>
                  <a:pt x="152400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6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18892F16-F826-5EA5-5644-4190AAEE2364}"/>
              </a:ext>
            </a:extLst>
          </p:cNvPr>
          <p:cNvSpPr/>
          <p:nvPr/>
        </p:nvSpPr>
        <p:spPr>
          <a:xfrm>
            <a:off x="3596640" y="4056764"/>
            <a:ext cx="809397" cy="796238"/>
          </a:xfrm>
          <a:custGeom>
            <a:avLst/>
            <a:gdLst/>
            <a:ahLst/>
            <a:cxnLst/>
            <a:rect l="l" t="t" r="r" b="b"/>
            <a:pathLst>
              <a:path w="1343025" h="1133475">
                <a:moveTo>
                  <a:pt x="0" y="0"/>
                </a:moveTo>
                <a:lnTo>
                  <a:pt x="1343025" y="0"/>
                </a:lnTo>
                <a:lnTo>
                  <a:pt x="1343025" y="1133475"/>
                </a:lnTo>
                <a:lnTo>
                  <a:pt x="0" y="1133475"/>
                </a:lnTo>
                <a:lnTo>
                  <a:pt x="0" y="0"/>
                </a:lnTo>
                <a:close/>
              </a:path>
            </a:pathLst>
          </a:custGeom>
          <a:blipFill>
            <a:blip r:embed="rId6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2" name="Freeform 44">
            <a:extLst>
              <a:ext uri="{FF2B5EF4-FFF2-40B4-BE49-F238E27FC236}">
                <a16:creationId xmlns:a16="http://schemas.microsoft.com/office/drawing/2014/main" id="{19F09215-0AF3-6C9B-534A-60795471F258}"/>
              </a:ext>
            </a:extLst>
          </p:cNvPr>
          <p:cNvSpPr/>
          <p:nvPr/>
        </p:nvSpPr>
        <p:spPr>
          <a:xfrm>
            <a:off x="6278881" y="3926871"/>
            <a:ext cx="875023" cy="917270"/>
          </a:xfrm>
          <a:custGeom>
            <a:avLst/>
            <a:gdLst/>
            <a:ahLst/>
            <a:cxnLst/>
            <a:rect l="l" t="t" r="r" b="b"/>
            <a:pathLst>
              <a:path w="1333500" h="1323975">
                <a:moveTo>
                  <a:pt x="0" y="0"/>
                </a:moveTo>
                <a:lnTo>
                  <a:pt x="1333500" y="0"/>
                </a:lnTo>
                <a:lnTo>
                  <a:pt x="1333500" y="1323975"/>
                </a:lnTo>
                <a:lnTo>
                  <a:pt x="0" y="1323975"/>
                </a:lnTo>
                <a:lnTo>
                  <a:pt x="0" y="0"/>
                </a:lnTo>
                <a:close/>
              </a:path>
            </a:pathLst>
          </a:custGeom>
          <a:blipFill>
            <a:blip r:embed="rId6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5106" y="57097"/>
            <a:ext cx="1118027" cy="56902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SoniX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4">
            <a:extLst>
              <a:ext uri="{FF2B5EF4-FFF2-40B4-BE49-F238E27FC236}">
                <a16:creationId xmlns:a16="http://schemas.microsoft.com/office/drawing/2014/main" id="{D79A5FB5-CF54-7833-EED2-2DDDB81C010A}"/>
              </a:ext>
            </a:extLst>
          </p:cNvPr>
          <p:cNvSpPr txBox="1"/>
          <p:nvPr/>
        </p:nvSpPr>
        <p:spPr>
          <a:xfrm>
            <a:off x="365760" y="1219200"/>
            <a:ext cx="5852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1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Standards alignment</a:t>
            </a:r>
            <a:endParaRPr lang="en-US" sz="16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B6875544-4702-6CE2-F487-4A828FC6B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721355"/>
              </p:ext>
            </p:extLst>
          </p:nvPr>
        </p:nvGraphicFramePr>
        <p:xfrm>
          <a:off x="365760" y="1584960"/>
          <a:ext cx="5852160" cy="2513048"/>
        </p:xfrm>
        <a:graphic>
          <a:graphicData uri="http://schemas.openxmlformats.org/drawingml/2006/table">
            <a:tbl>
              <a:tblPr/>
              <a:tblGrid>
                <a:gridCol w="195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1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51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Standard</a:t>
                      </a:r>
                      <a:endParaRPr lang="en-US" sz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How SmartVest aligns</a:t>
                      </a:r>
                      <a:endParaRPr lang="en-US" sz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OSH Code 2020 / Factories Act 1948</a:t>
                      </a:r>
                      <a:endParaRPr lang="en-US" sz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Monitoring and near-miss records support the employer’s safety duty.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1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ANSI Z49.1 (welding safety)</a:t>
                      </a:r>
                      <a:endParaRPr lang="en-US" sz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Welding-safety reference; module supplements certified PPE.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1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ICNIRP UV Guidelines (2004)</a:t>
                      </a:r>
                      <a:endParaRPr lang="en-US" sz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UV exposure guidance; sensor requires calibration.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99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ACGIH TLVs/BEIs</a:t>
                      </a:r>
                      <a:endParaRPr lang="en-US" sz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Exposure reference; MQ-135 indicates air-quality anomalies only.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7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IEC 61010-1 / IEC 62133</a:t>
                      </a:r>
                      <a:endParaRPr lang="en-US" sz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Equipment safety and portable rechargeable battery safety references.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24384" marB="2438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6">
            <a:extLst>
              <a:ext uri="{FF2B5EF4-FFF2-40B4-BE49-F238E27FC236}">
                <a16:creationId xmlns:a16="http://schemas.microsoft.com/office/drawing/2014/main" id="{EFB724F1-7E00-FAE0-06D7-3D573FC9834F}"/>
              </a:ext>
            </a:extLst>
          </p:cNvPr>
          <p:cNvSpPr txBox="1"/>
          <p:nvPr/>
        </p:nvSpPr>
        <p:spPr>
          <a:xfrm>
            <a:off x="365760" y="4206240"/>
            <a:ext cx="58521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1000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gap &amp; contribution</a:t>
            </a:r>
            <a:endParaRPr lang="en-US" sz="1600" dirty="0">
              <a:solidFill>
                <a:srgbClr val="01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C486042A-6066-5E9C-38AC-7C1F272F2E03}"/>
              </a:ext>
            </a:extLst>
          </p:cNvPr>
          <p:cNvSpPr/>
          <p:nvPr/>
        </p:nvSpPr>
        <p:spPr>
          <a:xfrm>
            <a:off x="365760" y="4584192"/>
            <a:ext cx="5852160" cy="1538096"/>
          </a:xfrm>
          <a:prstGeom prst="roundRect">
            <a:avLst>
              <a:gd name="adj" fmla="val 10345"/>
            </a:avLst>
          </a:prstGeom>
          <a:solidFill>
            <a:schemeClr val="accent3">
              <a:lumMod val="40000"/>
              <a:lumOff val="60000"/>
            </a:schemeClr>
          </a:solidFill>
          <a:ln w="12700">
            <a:solidFill>
              <a:srgbClr val="E6EBF2"/>
            </a:solidFill>
            <a:prstDash val="solid"/>
          </a:ln>
        </p:spPr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3C6B756B-A8CC-E3D2-52BD-8AB063CE3F94}"/>
              </a:ext>
            </a:extLst>
          </p:cNvPr>
          <p:cNvSpPr txBox="1"/>
          <p:nvPr/>
        </p:nvSpPr>
        <p:spPr>
          <a:xfrm>
            <a:off x="512064" y="4632960"/>
            <a:ext cx="5559552" cy="1489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33"/>
              </a:spcAft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Existing wearable safety systems can face cost, PPE-integration, false-alarm, sensor-reliability and connectivity challenges.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533"/>
              </a:spcAft>
            </a:pPr>
            <a:r>
              <a:rPr lang="en-US" sz="1200" dirty="0">
                <a:solidFill>
                  <a:srgbClr val="22222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SmartVest proposes a detachable retrofit module for an existing vest, combining UV/arc exposure, gas-anomaly, fall and hot-surface sensing with local buzzer/vibration alerts, microSD event logging and Wi-Fi sync after outages.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5D0DE894-F759-48AA-69DC-380EE14BBD88}"/>
              </a:ext>
            </a:extLst>
          </p:cNvPr>
          <p:cNvSpPr/>
          <p:nvPr/>
        </p:nvSpPr>
        <p:spPr>
          <a:xfrm>
            <a:off x="6522719" y="1219199"/>
            <a:ext cx="5398347" cy="49030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B8C6D6"/>
            </a:solidFill>
            <a:prstDash val="solid"/>
          </a:ln>
        </p:spPr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5B36E8D6-8365-EFB5-D12F-61818AAEE8D8}"/>
              </a:ext>
            </a:extLst>
          </p:cNvPr>
          <p:cNvSpPr/>
          <p:nvPr/>
        </p:nvSpPr>
        <p:spPr>
          <a:xfrm>
            <a:off x="6522719" y="1219200"/>
            <a:ext cx="60961" cy="4903088"/>
          </a:xfrm>
          <a:prstGeom prst="rect">
            <a:avLst/>
          </a:prstGeom>
          <a:solidFill>
            <a:schemeClr val="accent4"/>
          </a:solidFill>
          <a:ln w="12700">
            <a:solidFill>
              <a:srgbClr val="2F6B9A"/>
            </a:solidFill>
            <a:prstDash val="solid"/>
          </a:ln>
        </p:spPr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C7EA0504-2345-2079-234C-FFE5ABFE3B81}"/>
              </a:ext>
            </a:extLst>
          </p:cNvPr>
          <p:cNvSpPr txBox="1"/>
          <p:nvPr/>
        </p:nvSpPr>
        <p:spPr>
          <a:xfrm>
            <a:off x="6766560" y="1304544"/>
            <a:ext cx="4876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research references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B252293C-2FC6-E0D8-103E-B6886A0A3E6F}"/>
              </a:ext>
            </a:extLst>
          </p:cNvPr>
          <p:cNvSpPr txBox="1"/>
          <p:nvPr/>
        </p:nvSpPr>
        <p:spPr>
          <a:xfrm>
            <a:off x="6766560" y="1706880"/>
            <a:ext cx="4876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33"/>
              </a:spcAft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 Awolusi, Marks &amp; Hallowell (2018). “Wearable technology for personalized construction safety monitoring and trending.” Automation in Construction, 85, 96–106. </a:t>
            </a:r>
            <a:r>
              <a:rPr lang="en-US" sz="1200" u="sng" dirty="0">
                <a:solidFill>
                  <a:srgbClr val="1155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 10.1016/j.autcon.2017.10.015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33"/>
              </a:spcAft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 Bourke, O’Brien &amp; Lyons (2007). “Evaluation of a threshold-based tri-axial accelerometer fall detection algorithm.” Gait &amp; Posture, 26(2), 194–199. </a:t>
            </a:r>
            <a:r>
              <a:rPr lang="en-US" sz="1200" u="sng" dirty="0">
                <a:solidFill>
                  <a:srgbClr val="1155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 10.1016/j.gaitpost.2007.05.004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33"/>
              </a:spcAft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3. ICNIRP (2004). “Guidelines on limits of exposure to ultraviolet radiation.” Health Physics, 87(2), 171–186. </a:t>
            </a:r>
            <a:r>
              <a:rPr lang="en-US" sz="1200" u="sng" dirty="0">
                <a:solidFill>
                  <a:srgbClr val="1155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https://www.icnirp.org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33"/>
              </a:spcAft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 IARC (2018). Welding, Molybdenum Trioxide, and Indium Tin Oxide. IARC Monographs, Vol. 118. </a:t>
            </a:r>
            <a:r>
              <a:rPr lang="en-US" sz="1200" u="sng" dirty="0">
                <a:solidFill>
                  <a:srgbClr val="1155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https://monographs.iarc.who.int/news-events/volume-118/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33"/>
              </a:spcAft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5. Sensor / controller datasheets: Espressif ESP32-C3; Vishay VEML6075; InvenSense MPU-6050; Melexis MLX90614; Hanwei MQ-135. </a:t>
            </a:r>
            <a:r>
              <a:rPr lang="en-US" sz="1200" u="sng" dirty="0">
                <a:solidFill>
                  <a:srgbClr val="1155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https://docs.espressif.com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33"/>
              </a:spcAft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6. Igual, Medrano &amp; Plaza (2013). “Challenges, issues and trends in fall detection systems.” BioMedical Engineering OnLine, 12, 66. </a:t>
            </a:r>
            <a:r>
              <a:rPr lang="en-US" sz="1200" u="sng" dirty="0">
                <a:solidFill>
                  <a:srgbClr val="1155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 10.1186/1475-925X-12-66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933"/>
              </a:spcAft>
            </a:pPr>
            <a:r>
              <a:rPr lang="en-US" sz="1200" dirty="0">
                <a:solidFill>
                  <a:srgbClr val="33333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7. Fine, Cavanagh, Afonja &amp; Binions (2010). “Metal oxide semi-conductor gas sensors in environmental monitoring.” Sensors, 10(6), 5469–5502. </a:t>
            </a:r>
            <a:r>
              <a:rPr lang="en-US" sz="1200" u="sng" dirty="0">
                <a:solidFill>
                  <a:srgbClr val="1155C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DOI: 10.3390/s100605469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8618</TotalTime>
  <Words>1252</Words>
  <Application>Microsoft Office PowerPoint</Application>
  <PresentationFormat>Widescreen</PresentationFormat>
  <Paragraphs>223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ＭＳ Ｐゴシック</vt:lpstr>
      <vt:lpstr>Arial</vt:lpstr>
      <vt:lpstr>Arial MT</vt:lpstr>
      <vt:lpstr>Calibri</vt:lpstr>
      <vt:lpstr>Eastman Grotesque Bold</vt:lpstr>
      <vt:lpstr>Garamond</vt:lpstr>
      <vt:lpstr>Lato Bold</vt:lpstr>
      <vt:lpstr>Segoe UI Symbol</vt:lpstr>
      <vt:lpstr>Times New Roman</vt:lpstr>
      <vt:lpstr>Times New Roman </vt:lpstr>
      <vt:lpstr>Times New Roman Bold</vt:lpstr>
      <vt:lpstr>TradeGothic</vt:lpstr>
      <vt:lpstr>Office Theme</vt:lpstr>
      <vt:lpstr>SMART INDIA HACKATHON 2025</vt:lpstr>
      <vt:lpstr>PowerPoint Presentation</vt:lpstr>
      <vt:lpstr>TECHNICAL APPROACH</vt:lpstr>
      <vt:lpstr>PowerPoint Presentation</vt:lpstr>
      <vt:lpstr>PowerPoint Presentation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sakshi chandratre</cp:lastModifiedBy>
  <cp:revision>152</cp:revision>
  <dcterms:created xsi:type="dcterms:W3CDTF">2013-12-12T18:46:50Z</dcterms:created>
  <dcterms:modified xsi:type="dcterms:W3CDTF">2026-10-16T17:12:03Z</dcterms:modified>
  <cp:category/>
</cp:coreProperties>
</file>